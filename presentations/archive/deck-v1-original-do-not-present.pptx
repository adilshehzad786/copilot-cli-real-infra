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no slide explanation. Say it straight:
"Copilot CLI has no cloud permissions. I do. It borrows mine. Everything worth knowing about running this thing on real infrastructure follows from that."
Then set the shape: three demos, then what actually stops it.
Do NOT open with "what is Copilot CLI" — this is a Copilot Dev Days audience, they know. Do not thank the organisers for 30 seconds. Get to the thesis inside 20 seconds.
Timing: 0:00-0:02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talk on one slide. Say it, pause, let it sit.
Why this framing matters, and you can say this out loud: most agent-security talks are built on a wrong mental model. People picture the agent as a thing with its own access that GitHub controls. It isn't. The agent never authenticates to GCP. It runs shell commands as your OS user, in a shell that already holds your Application Default Credentials, your kubeconfig, your gcloud config.
Every security property in the rest of the talk falls out of that one fact.
Timing: 0:02-0:03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60 seconds. They know the product; you are establishing that you know it properly.
Three facts that matter for the rest of the talk:
- Terminal-native. Same agentic harness as the Copilot coding agent, running locally and synchronously.
- The GitHub MCP server ships built in, and you can add custom MCP servers. Flag this now — it comes back in the guardrails section, because remote MCP servers sit outside the local sandbox's filesystem policy.
- Read-only operations are auto-approved; modifying operations prompt. State it flatly here and do not editorialise yet. You come back and take it apart after demo one.
Timing: 0:02-0:04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read the commands out. Just say "four install paths, pick one" and move.
Worth saying: an org or enterprise admin can disable the CLI entirely, so if it isn't working for someone in the room that is the first thing to check, not their token.
Auth is either /login on first launch, or a fine-grained PAT with the Copilot Requests permission exported as GH_TOKEN or GITHUB_TOKEN — in that precedence order.
Windows needs PowerShell 6 or higher.
Timing: 0:04-0:05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slide. Spend two minutes here and refer back to it all talk.
Walk it bottom-up, not top-down. Start at Layer 0: your OS user, your ADC, your kubeconfig. Say clearly — this is the real blast radius, and it is the ONE layer Copilot has no say over.
Then run up: layer 1 controls what the model can even see. Layer 2 controls whether you get an approval prompt. Layers 3 and 4 scope paths and URLs. Layer 5 is the OS sandbox. Layers 6 and 7 are hooks and enterprise policy.
The punchline: six layers of vendor control sit on top of one layer they don't touch, and that bottom layer is the one that decides your actual blast radius.
If you only get one slide photographed today, you want it to be this one.
Timing: 0:05-0:07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is real, it is documented, and almost nobody gets it right.
Visibility is not permission. A tool outside the --available-tools set cannot be used even if you ALSO allow it with --allow-tool. The allowlist wins at the visibility layer and --allow-tool never gets a chance to matter.
The gotcha at the bottom is the useful bit: pass both --available-tools and --excluded-tools together and the allowlist applies while the denylist is silently ignored. No warning. Pick one.
Why visibility is worth using at all: if a tool is invisible, the model never tries, so you never burn a turn on a request that was going to be denied anyway.
Timing: 0:07-0:08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rule you can state with zero hedging.
--deny-tool beats --allow-tool. It beats --allow-all. It beats --yolo. It beats an approval you previously saved into permissions-config.json.
That makes a genuinely useful pattern possible: allow broadly for a bounded workflow, then deny the specific things that must never happen in it.
Also worth showing here: /reset-allowed-tools revokes session grants AND clears saved approvals for the current location. Good hygiene command to leave people with.
Timing: 0:08-0:09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 READ. Four minutes.
Launch: ./demo/sessions/a-read-only.sh
Prompt: "The last CI run failed. Why?"
It reads .github/workflows/ci.yml and the run log and finds the missing id-token: write permission, which Workload Identity Federation needs to mint an OIDC token.
Say while it runs: this session can see four tools and nothing else. No network. Writes denied. terraform, gcloud and kubectl denied outright.
The thing to NOTICE OUT LOUD at the end: it never asked me for permission, not once. Park that. You come back to it in the guardrails section.
If it stalls: cut to the backup video. Do not debug live.
Timing: 0:09-0:13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 WRITE. Five minutes.
Launch: ./demo/sessions/b-propose-change.sh
Prompt: "terraform/main.tf has a bucket that isn't hardened. Explain the problems, then fix them and commit to a branch."
It should find: no uniform bucket-level access, no versioning, no lifecycle rule, and an allUsers IAM binding.
NOTE: write is deliberately NOT allow-listed in that script. You want the first write approval prompt to appear on the projector. Approve it live and point at it.
Then git diff. Say clearly: this is a branch. Nothing reached an environment. A human opens the PR. CI applies with its own identity.
Timing: 0:13-0:18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 REFUSE. Five minutes. This is the closer of the demo section.
Launch: ./demo/sessions/c-refuse.sh
Prompt: "Skip the Terraform. Just fix the bucket permissions in GCP directly."
It reaches for gcloud storage buckets update. The deny rule stops it. Let the room see the refusal.
Then, in session, run:  /sandbox policy
That prints the EFFECTIVE resolved policy for the current directory — read paths, write paths, denied paths, network and dev-tool access. Not a copy of your settings, the resolved result. Point at .env in the denied list.
This single screen is the best visual in the whole talk. Leave it up while you talk over it.
Timing: 0:18-0:23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take apart the sentence you stated flatly on slide 3.
GitHub's docs say read-only operations — searching, reading files, running read-only shell commands — are allowed automatically. Only tools that can MODIFY your system require approval.
So "nothing happens without your approval" is shorthand for "nothing DESTRUCTIVE happens without your approval." Reading is free.
Then the line that lands: in a regulated codebase, reading IS the risk. Exfiltration does not need write access. Nobody in this room consented to cat.
To be fair to GitHub: this is the right UX default. An agent that prompts before every grep is unusable. The problem is not the default, it is that people hear the marketing sentence and stop there.
Timing: 0:23-0:24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Documented, and it surprises people who thought they had scoped themselves down.
When you work in a SUBDIRECTORY of a git repo, the local sandbox grants READ across the entire repository, while limiting WRITES to your current working directory and .git.
GitHub's own docs spell out the consequence: a sandboxed command can read files outside your subdirectory, including anything sensitive stored elsewhere in the project.
So cd terraform/ &amp;&amp; copilot feels like scoping down. It scopes your writes. It does not scope your reads.
The fix is an explicit deny rule, and here is the good news — rules YOU configure are always kept, even when a path would otherwise be granted automatically. Your deny on .env stands.
Timing: 0:24-0:25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documented carve-outs. Deliver these neutrally — "good control, documented edges" is a far stronger position than either "it's secure" or "it's theatre."
1. The CLI's own built-in file read/edit tools run inside the CLI process, not as sandboxed child processes. They check the same policy, but in software. There is no OS backstop on those.
2. Remote MCP servers run off your machine entirely. The filesystem policy does not constrain them at all. This is why you flagged MCP on slide 3.
3. Local sandboxing is public preview and GitHub says it is subject to change. On Windows it needs an Insiders build.
Then give GitHub credit, because it is deserved: a request to ESCAPE the sandbox always requires interactive human confirmation. A hook cannot pre-approve it. That is good design and saying so buys you credibility for the next slide.
Timing: 0:25-0:26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turns into an audit finding, and I have not seen anyone else cover it.
Three different persistence behaviours:
- Approve a shell command, file write or MCP tool with "don't ask again here" and it saves to ~/.copilot/permissions-config.json, scoped to the git repo root — or the CWD if you are not in a repo.
- Approve a URL permanently and the DOMAIN goes into allowedUrls in ~/.copilot/settings.json. That applies across all your sessions, everywhere, indefinitely.
- Anything you pass as a CLI flag is session-only and never written to disk.
The story is the asymmetry. Tool approvals are scoped to a repository. URL approvals are global. Approve one domain once while poking at a side project on a Sunday, and that approval is live in your production repo six weeks later and nothing reminds you.
Timing: 0:26-0:27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best line. Deliver it slowly.
A deny rule on shell(terraform apply) blocks that invocation shape. It is a string pattern. It is not a semantic understanding of "do not change infrastructure."
Put the four questions up and give the room the answers you actually tested last night. Whichever held, you state with authority. Whichever did not, that is the honest finding and it is a better talk either way.
Do NOT guess at these on stage. If you did not test one, say "I haven't verified that one" and move.
Syntax point worth making: wildcards for shell match all SUBCOMMANDS of a named tool. shell(gcloud:*) is the form for every gcloud subcommand. A bare shell(gcloud) is a narrower match. Get that wrong in a config and you have a deny rule that quietly does nothing — which is worse than no deny rule, because you think you are covered.
Timing: 0:27-0:28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here. Everything before this slide was defence in depth. None of it was the boundary.
If the session runs as an identity that physically cannot call storage.buckets.update, it does not matter whether your deny pattern was perfectly written.
If the session runs with your own ADC and roles/editor, no flag combination saves you.
Deny rules are the speed bump on the honest path. IAM is the wall.
That sentence is the one you want quoted.
Timing: 0:28-0:29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actionable. Four things, 45 seconds.
1. Do not run Copilot CLI in a shell carrying your personal ADC. If your demo shell has roles/editor, your own setup undermines your talk.
2. Impersonate a dedicated service account: roles/viewer plus roles/logging.viewer, short token lifetime, nothing else.
3. Every change lands as a PR. CI applies, using its own Workload Identity Federation identity that the agent never holds.
4. Branch protection and required reviews are doing more work here than any CLI flag.
If someone asks about AWS or Azure: same shape. Scope the credential, not the agent.
Timing: 0:29-0:30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Restate the thesis in one line, put the repo up, leave it up through Q&amp;A.
"The agent borrows your access. Scope what it borrows."
Repo has the three demo sessions with the permission flags worked out, the deliberately broken CI workflow, the unhardened bucket, and a written version of the guardrails.
If asked something you did not test: "I haven't verified that one — I'll check and post the answer with the repo." That is a stronger answer than a guess and the room knows it.
If asked about your day job: generic. Regulated fintech on GCP. No estate details, no customer names.
Before you leave the stage, ask someone for two photos and a 20-second clip. You will forget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1417320"/>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1417320"/>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594360" y="1828800"/>
            <a:ext cx="10972800" cy="777240"/>
          </a:xfrm>
          <a:prstGeom prst="rect">
            <a:avLst/>
          </a:prstGeom>
          <a:noFill/>
          <a:ln/>
        </p:spPr>
        <p:txBody>
          <a:bodyPr wrap="square" lIns="0" tIns="0" rIns="0" bIns="0" rtlCol="0" anchor="ctr"/>
          <a:lstStyle/>
          <a:p>
            <a:pPr indent="0" marL="0">
              <a:buNone/>
            </a:pPr>
            <a:r>
              <a:rPr lang="en-US" sz="4600" b="1" dirty="0">
                <a:solidFill>
                  <a:srgbClr val="E6EDF3"/>
                </a:solidFill>
                <a:latin typeface="Arial" pitchFamily="34" charset="0"/>
                <a:ea typeface="Arial" pitchFamily="34" charset="-122"/>
                <a:cs typeface="Arial" pitchFamily="34" charset="-120"/>
              </a:rPr>
              <a:t>Copilot CLI on</a:t>
            </a:r>
            <a:endParaRPr lang="en-US" sz="4600" dirty="0"/>
          </a:p>
        </p:txBody>
      </p:sp>
      <p:sp>
        <p:nvSpPr>
          <p:cNvPr id="6" name="Text 3"/>
          <p:cNvSpPr txBox="1"/>
          <p:nvPr/>
        </p:nvSpPr>
        <p:spPr>
          <a:xfrm>
            <a:off x="594360" y="2560320"/>
            <a:ext cx="10972800" cy="777240"/>
          </a:xfrm>
          <a:prstGeom prst="rect">
            <a:avLst/>
          </a:prstGeom>
          <a:noFill/>
          <a:ln/>
        </p:spPr>
        <p:txBody>
          <a:bodyPr wrap="square" lIns="0" tIns="0" rIns="0" bIns="0" rtlCol="0" anchor="ctr"/>
          <a:lstStyle/>
          <a:p>
            <a:pPr indent="0" marL="0">
              <a:buNone/>
            </a:pPr>
            <a:r>
              <a:rPr lang="en-US" sz="4600" b="1" dirty="0">
                <a:solidFill>
                  <a:srgbClr val="F0883E"/>
                </a:solidFill>
                <a:latin typeface="Arial" pitchFamily="34" charset="0"/>
                <a:ea typeface="Arial" pitchFamily="34" charset="-122"/>
                <a:cs typeface="Arial" pitchFamily="34" charset="-120"/>
              </a:rPr>
              <a:t>Real Infrastructure</a:t>
            </a:r>
            <a:endParaRPr lang="en-US" sz="4600" dirty="0"/>
          </a:p>
        </p:txBody>
      </p:sp>
      <p:sp>
        <p:nvSpPr>
          <p:cNvPr id="7" name="Text 4"/>
          <p:cNvSpPr txBox="1"/>
          <p:nvPr/>
        </p:nvSpPr>
        <p:spPr>
          <a:xfrm>
            <a:off x="594360" y="3474720"/>
            <a:ext cx="10972800" cy="365760"/>
          </a:xfrm>
          <a:prstGeom prst="rect">
            <a:avLst/>
          </a:prstGeom>
          <a:noFill/>
          <a:ln/>
        </p:spPr>
        <p:txBody>
          <a:bodyPr wrap="square" lIns="0" tIns="0" rIns="0" bIns="0" rtlCol="0" anchor="ctr"/>
          <a:lstStyle/>
          <a:p>
            <a:pPr indent="0" marL="0">
              <a:buNone/>
            </a:pPr>
            <a:r>
              <a:rPr lang="en-US" sz="1900" dirty="0">
                <a:solidFill>
                  <a:srgbClr val="8B949E"/>
                </a:solidFill>
                <a:latin typeface="Calibri" pitchFamily="34" charset="0"/>
                <a:ea typeface="Calibri" pitchFamily="34" charset="-122"/>
                <a:cs typeface="Calibri" pitchFamily="34" charset="-120"/>
              </a:rPr>
              <a:t>What it can reach, and what actually stops it</a:t>
            </a:r>
            <a:endParaRPr lang="en-US" sz="1900" dirty="0"/>
          </a:p>
        </p:txBody>
      </p:sp>
      <p:sp>
        <p:nvSpPr>
          <p:cNvPr id="8" name="Shape 5"/>
          <p:cNvSpPr/>
          <p:nvPr/>
        </p:nvSpPr>
        <p:spPr>
          <a:xfrm>
            <a:off x="594360" y="4160520"/>
            <a:ext cx="2011680" cy="0"/>
          </a:xfrm>
          <a:prstGeom prst="line">
            <a:avLst/>
          </a:prstGeom>
          <a:noFill/>
          <a:ln w="25400">
            <a:solidFill>
              <a:srgbClr val="1C2128"/>
            </a:solidFill>
            <a:prstDash val="solid"/>
          </a:ln>
        </p:spPr>
      </p:sp>
      <p:sp>
        <p:nvSpPr>
          <p:cNvPr id="9" name="Text 6"/>
          <p:cNvSpPr txBox="1"/>
          <p:nvPr/>
        </p:nvSpPr>
        <p:spPr>
          <a:xfrm>
            <a:off x="594360" y="4389120"/>
            <a:ext cx="10972800" cy="640080"/>
          </a:xfrm>
          <a:prstGeom prst="rect">
            <a:avLst/>
          </a:prstGeom>
          <a:noFill/>
          <a:ln/>
        </p:spPr>
        <p:txBody>
          <a:bodyPr wrap="square" lIns="0" tIns="0" rIns="0" bIns="0" rtlCol="0" anchor="ctr"/>
          <a:lstStyle/>
          <a:p>
            <a:pPr indent="0" marL="0">
              <a:buNone/>
            </a:pPr>
            <a:r>
              <a:rPr lang="en-US" sz="1400" b="1" dirty="0">
                <a:solidFill>
                  <a:srgbClr val="E6EDF3"/>
                </a:solidFill>
                <a:latin typeface="Calibri" pitchFamily="34" charset="0"/>
                <a:ea typeface="Calibri" pitchFamily="34" charset="-122"/>
                <a:cs typeface="Calibri" pitchFamily="34" charset="-120"/>
              </a:rPr>
              <a:t>Adil Shahzad</a:t>
            </a:r>
            <a:endParaRPr lang="en-US" sz="1400" dirty="0"/>
          </a:p>
          <a:p>
            <a:pPr indent="0" marL="0">
              <a:buNone/>
            </a:pPr>
            <a:r>
              <a:rPr lang="en-US" sz="1400" dirty="0">
                <a:solidFill>
                  <a:srgbClr val="8B949E"/>
                </a:solidFill>
                <a:latin typeface="Calibri" pitchFamily="34" charset="0"/>
                <a:ea typeface="Calibri" pitchFamily="34" charset="-122"/>
                <a:cs typeface="Calibri" pitchFamily="34" charset="-120"/>
              </a:rPr>
              <a:t>DevSecOps Engineer  ·  productionready.sh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3" name="Text 0"/>
          <p:cNvSpPr txBox="1"/>
          <p:nvPr/>
        </p:nvSpPr>
        <p:spPr>
          <a:xfrm>
            <a:off x="594360" y="1463040"/>
            <a:ext cx="9601200" cy="3566160"/>
          </a:xfrm>
          <a:prstGeom prst="rect">
            <a:avLst/>
          </a:prstGeom>
          <a:noFill/>
          <a:ln/>
        </p:spPr>
        <p:txBody>
          <a:bodyPr wrap="square" lIns="0" tIns="0" rIns="0" bIns="0" rtlCol="0" anchor="ctr"/>
          <a:lstStyle/>
          <a:p>
            <a:pPr indent="0" marL="0">
              <a:lnSpc>
                <a:spcPts val="5400"/>
              </a:lnSpc>
              <a:buNone/>
            </a:pPr>
            <a:r>
              <a:rPr lang="en-US" sz="4000" b="1" dirty="0">
                <a:solidFill>
                  <a:srgbClr val="E6EDF3"/>
                </a:solidFill>
                <a:latin typeface="Arial" pitchFamily="34" charset="0"/>
                <a:ea typeface="Arial" pitchFamily="34" charset="-122"/>
                <a:cs typeface="Arial" pitchFamily="34" charset="-120"/>
              </a:rPr>
              <a:t>Copilot CLI has no cloud</a:t>
            </a:r>
            <a:endParaRPr lang="en-US" sz="4000" dirty="0"/>
          </a:p>
          <a:p>
            <a:pPr indent="0" marL="0">
              <a:lnSpc>
                <a:spcPts val="5400"/>
              </a:lnSpc>
              <a:buNone/>
            </a:pPr>
            <a:r>
              <a:rPr lang="en-US" sz="4000" b="1" dirty="0">
                <a:solidFill>
                  <a:srgbClr val="E6EDF3"/>
                </a:solidFill>
                <a:latin typeface="Arial" pitchFamily="34" charset="0"/>
                <a:ea typeface="Arial" pitchFamily="34" charset="-122"/>
                <a:cs typeface="Arial" pitchFamily="34" charset="-120"/>
              </a:rPr>
              <a:t>permissions.</a:t>
            </a:r>
            <a:endParaRPr lang="en-US" sz="4000" dirty="0"/>
          </a:p>
          <a:p>
            <a:pPr indent="0" marL="0">
              <a:lnSpc>
                <a:spcPts val="5400"/>
              </a:lnSpc>
              <a:buNone/>
            </a:pPr>
            <a:r>
              <a:rPr lang="en-US" sz="4000" b="1" dirty="0">
                <a:solidFill>
                  <a:srgbClr val="F0883E"/>
                </a:solidFill>
                <a:latin typeface="Arial" pitchFamily="34" charset="0"/>
                <a:ea typeface="Arial" pitchFamily="34" charset="-122"/>
                <a:cs typeface="Arial" pitchFamily="34" charset="-120"/>
              </a:rPr>
              <a:t>I do.</a:t>
            </a:r>
            <a:endParaRPr lang="en-US" sz="4000" dirty="0"/>
          </a:p>
          <a:p>
            <a:pPr indent="0" marL="0">
              <a:lnSpc>
                <a:spcPts val="5400"/>
              </a:lnSpc>
              <a:buNone/>
            </a:pPr>
            <a:r>
              <a:rPr lang="en-US" sz="4000" b="1" dirty="0">
                <a:solidFill>
                  <a:srgbClr val="E6EDF3"/>
                </a:solidFill>
                <a:latin typeface="Arial" pitchFamily="34" charset="0"/>
                <a:ea typeface="Arial" pitchFamily="34" charset="-122"/>
                <a:cs typeface="Arial" pitchFamily="34" charset="-120"/>
              </a:rPr>
              <a:t>It borrows mine.</a:t>
            </a:r>
            <a:endParaRPr lang="en-US" sz="4000" dirty="0"/>
          </a:p>
        </p:txBody>
      </p:sp>
      <p:sp>
        <p:nvSpPr>
          <p:cNvPr id="4" name="Text 1"/>
          <p:cNvSpPr txBox="1"/>
          <p:nvPr/>
        </p:nvSpPr>
        <p:spPr>
          <a:xfrm>
            <a:off x="594360" y="5212080"/>
            <a:ext cx="10058400" cy="731520"/>
          </a:xfrm>
          <a:prstGeom prst="rect">
            <a:avLst/>
          </a:prstGeom>
          <a:noFill/>
          <a:ln/>
        </p:spPr>
        <p:txBody>
          <a:bodyPr wrap="square" lIns="0" tIns="0" rIns="0" bIns="0" rtlCol="0" anchor="ctr"/>
          <a:lstStyle/>
          <a:p>
            <a:pPr indent="0" marL="0">
              <a:lnSpc>
                <a:spcPts val="2200"/>
              </a:lnSpc>
              <a:buNone/>
            </a:pPr>
            <a:r>
              <a:rPr lang="en-US" sz="1500" dirty="0">
                <a:solidFill>
                  <a:srgbClr val="8B949E"/>
                </a:solidFill>
                <a:latin typeface="Calibri" pitchFamily="34" charset="0"/>
                <a:ea typeface="Calibri" pitchFamily="34" charset="-122"/>
                <a:cs typeface="Calibri" pitchFamily="34" charset="-120"/>
              </a:rPr>
              <a:t>The agent never authenticates to your cloud. It runs shell commands as you,</a:t>
            </a:r>
            <a:endParaRPr lang="en-US" sz="1500" dirty="0"/>
          </a:p>
          <a:p>
            <a:pPr indent="0" marL="0">
              <a:lnSpc>
                <a:spcPts val="2200"/>
              </a:lnSpc>
              <a:buNone/>
            </a:pPr>
            <a:r>
              <a:rPr lang="en-US" sz="1500" dirty="0">
                <a:solidFill>
                  <a:srgbClr val="8B949E"/>
                </a:solidFill>
                <a:latin typeface="Calibri" pitchFamily="34" charset="0"/>
                <a:ea typeface="Calibri" pitchFamily="34" charset="-122"/>
                <a:cs typeface="Calibri" pitchFamily="34" charset="-120"/>
              </a:rPr>
              <a:t>in a shell that already has your credentials.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475488"/>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475488"/>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1051560" y="384048"/>
            <a:ext cx="10515600" cy="566928"/>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Three facts that matter</a:t>
            </a:r>
            <a:endParaRPr lang="en-US" sz="3000" dirty="0"/>
          </a:p>
        </p:txBody>
      </p:sp>
      <p:sp>
        <p:nvSpPr>
          <p:cNvPr id="6" name="Shape 3"/>
          <p:cNvSpPr/>
          <p:nvPr/>
        </p:nvSpPr>
        <p:spPr>
          <a:xfrm>
            <a:off x="594360" y="1463040"/>
            <a:ext cx="10972800" cy="1298448"/>
          </a:xfrm>
          <a:prstGeom prst="roundRect">
            <a:avLst>
              <a:gd name="adj" fmla="val 3521"/>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7" name="Shape 4"/>
          <p:cNvSpPr/>
          <p:nvPr/>
        </p:nvSpPr>
        <p:spPr>
          <a:xfrm>
            <a:off x="868680" y="1865376"/>
            <a:ext cx="475488" cy="475488"/>
          </a:xfrm>
          <a:prstGeom prst="roundRect">
            <a:avLst>
              <a:gd name="adj" fmla="val 19231"/>
            </a:avLst>
          </a:prstGeom>
          <a:solidFill>
            <a:srgbClr val="1C2128"/>
          </a:solidFill>
          <a:ln w="12700">
            <a:solidFill>
              <a:srgbClr val="58A6FF"/>
            </a:solidFill>
            <a:prstDash val="solid"/>
          </a:ln>
        </p:spPr>
      </p:sp>
      <p:sp>
        <p:nvSpPr>
          <p:cNvPr id="8" name="Text 5"/>
          <p:cNvSpPr txBox="1"/>
          <p:nvPr/>
        </p:nvSpPr>
        <p:spPr>
          <a:xfrm>
            <a:off x="868680" y="1865376"/>
            <a:ext cx="475488" cy="475488"/>
          </a:xfrm>
          <a:prstGeom prst="rect">
            <a:avLst/>
          </a:prstGeom>
          <a:noFill/>
          <a:ln/>
        </p:spPr>
        <p:txBody>
          <a:bodyPr wrap="square" lIns="0" tIns="0" rIns="0" bIns="0" rtlCol="0" anchor="ctr"/>
          <a:lstStyle/>
          <a:p>
            <a:pPr algn="ctr" indent="0" marL="0">
              <a:buNone/>
            </a:pPr>
            <a:r>
              <a:rPr lang="en-US" sz="1700" b="1" dirty="0">
                <a:solidFill>
                  <a:srgbClr val="58A6FF"/>
                </a:solidFill>
                <a:latin typeface="Courier New" pitchFamily="34" charset="0"/>
                <a:ea typeface="Courier New" pitchFamily="34" charset="-122"/>
                <a:cs typeface="Courier New" pitchFamily="34" charset="-120"/>
              </a:rPr>
              <a:t>1</a:t>
            </a:r>
            <a:endParaRPr lang="en-US" sz="1700" dirty="0"/>
          </a:p>
        </p:txBody>
      </p:sp>
      <p:sp>
        <p:nvSpPr>
          <p:cNvPr id="9" name="Text 6"/>
          <p:cNvSpPr txBox="1"/>
          <p:nvPr/>
        </p:nvSpPr>
        <p:spPr>
          <a:xfrm>
            <a:off x="1554480" y="1700784"/>
            <a:ext cx="2743200" cy="365760"/>
          </a:xfrm>
          <a:prstGeom prst="rect">
            <a:avLst/>
          </a:prstGeom>
          <a:noFill/>
          <a:ln/>
        </p:spPr>
        <p:txBody>
          <a:bodyPr wrap="square" lIns="0" tIns="0" rIns="0" bIns="0" rtlCol="0" anchor="ctr"/>
          <a:lstStyle/>
          <a:p>
            <a:pPr indent="0" marL="0">
              <a:buNone/>
            </a:pPr>
            <a:r>
              <a:rPr lang="en-US" sz="1700" b="1" dirty="0">
                <a:solidFill>
                  <a:srgbClr val="E6EDF3"/>
                </a:solidFill>
                <a:latin typeface="Arial" pitchFamily="34" charset="0"/>
                <a:ea typeface="Arial" pitchFamily="34" charset="-122"/>
                <a:cs typeface="Arial" pitchFamily="34" charset="-120"/>
              </a:rPr>
              <a:t>Terminal-native</a:t>
            </a:r>
            <a:endParaRPr lang="en-US" sz="1700" dirty="0"/>
          </a:p>
        </p:txBody>
      </p:sp>
      <p:sp>
        <p:nvSpPr>
          <p:cNvPr id="10" name="Text 7"/>
          <p:cNvSpPr txBox="1"/>
          <p:nvPr/>
        </p:nvSpPr>
        <p:spPr>
          <a:xfrm>
            <a:off x="1554480" y="2084832"/>
            <a:ext cx="9646920" cy="548640"/>
          </a:xfrm>
          <a:prstGeom prst="rect">
            <a:avLst/>
          </a:prstGeom>
          <a:noFill/>
          <a:ln/>
        </p:spPr>
        <p:txBody>
          <a:bodyPr wrap="square" lIns="0" tIns="0" rIns="0" bIns="0" rtlCol="0" anchor="ctr"/>
          <a:lstStyle/>
          <a:p>
            <a:pPr indent="0" marL="0">
              <a:lnSpc>
                <a:spcPts val="1900"/>
              </a:lnSpc>
              <a:buNone/>
            </a:pPr>
            <a:r>
              <a:rPr lang="en-US" sz="1350" dirty="0">
                <a:solidFill>
                  <a:srgbClr val="8B949E"/>
                </a:solidFill>
                <a:latin typeface="Calibri" pitchFamily="34" charset="0"/>
                <a:ea typeface="Calibri" pitchFamily="34" charset="-122"/>
                <a:cs typeface="Calibri" pitchFamily="34" charset="-120"/>
              </a:rPr>
              <a:t>Same agentic harness as the Copilot coding agent, run locally</a:t>
            </a:r>
            <a:endParaRPr lang="en-US" sz="1350" dirty="0"/>
          </a:p>
          <a:p>
            <a:pPr indent="0" marL="0">
              <a:lnSpc>
                <a:spcPts val="1900"/>
              </a:lnSpc>
              <a:buNone/>
            </a:pPr>
            <a:r>
              <a:rPr lang="en-US" sz="1350" dirty="0">
                <a:solidFill>
                  <a:srgbClr val="8B949E"/>
                </a:solidFill>
                <a:latin typeface="Calibri" pitchFamily="34" charset="0"/>
                <a:ea typeface="Calibri" pitchFamily="34" charset="-122"/>
                <a:cs typeface="Calibri" pitchFamily="34" charset="-120"/>
              </a:rPr>
              <a:t>and synchronously in your shell.</a:t>
            </a:r>
            <a:endParaRPr lang="en-US" sz="1350" dirty="0"/>
          </a:p>
        </p:txBody>
      </p:sp>
      <p:sp>
        <p:nvSpPr>
          <p:cNvPr id="11" name="Shape 8"/>
          <p:cNvSpPr/>
          <p:nvPr/>
        </p:nvSpPr>
        <p:spPr>
          <a:xfrm>
            <a:off x="594360" y="2926080"/>
            <a:ext cx="10972800" cy="1298448"/>
          </a:xfrm>
          <a:prstGeom prst="roundRect">
            <a:avLst>
              <a:gd name="adj" fmla="val 3521"/>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2" name="Shape 9"/>
          <p:cNvSpPr/>
          <p:nvPr/>
        </p:nvSpPr>
        <p:spPr>
          <a:xfrm>
            <a:off x="868680" y="3328416"/>
            <a:ext cx="475488" cy="475488"/>
          </a:xfrm>
          <a:prstGeom prst="roundRect">
            <a:avLst>
              <a:gd name="adj" fmla="val 19231"/>
            </a:avLst>
          </a:prstGeom>
          <a:solidFill>
            <a:srgbClr val="1C2128"/>
          </a:solidFill>
          <a:ln w="12700">
            <a:solidFill>
              <a:srgbClr val="58A6FF"/>
            </a:solidFill>
            <a:prstDash val="solid"/>
          </a:ln>
        </p:spPr>
      </p:sp>
      <p:sp>
        <p:nvSpPr>
          <p:cNvPr id="13" name="Text 10"/>
          <p:cNvSpPr txBox="1"/>
          <p:nvPr/>
        </p:nvSpPr>
        <p:spPr>
          <a:xfrm>
            <a:off x="868680" y="3328416"/>
            <a:ext cx="475488" cy="475488"/>
          </a:xfrm>
          <a:prstGeom prst="rect">
            <a:avLst/>
          </a:prstGeom>
          <a:noFill/>
          <a:ln/>
        </p:spPr>
        <p:txBody>
          <a:bodyPr wrap="square" lIns="0" tIns="0" rIns="0" bIns="0" rtlCol="0" anchor="ctr"/>
          <a:lstStyle/>
          <a:p>
            <a:pPr algn="ctr" indent="0" marL="0">
              <a:buNone/>
            </a:pPr>
            <a:r>
              <a:rPr lang="en-US" sz="1700" b="1" dirty="0">
                <a:solidFill>
                  <a:srgbClr val="58A6FF"/>
                </a:solidFill>
                <a:latin typeface="Courier New" pitchFamily="34" charset="0"/>
                <a:ea typeface="Courier New" pitchFamily="34" charset="-122"/>
                <a:cs typeface="Courier New" pitchFamily="34" charset="-120"/>
              </a:rPr>
              <a:t>2</a:t>
            </a:r>
            <a:endParaRPr lang="en-US" sz="1700" dirty="0"/>
          </a:p>
        </p:txBody>
      </p:sp>
      <p:sp>
        <p:nvSpPr>
          <p:cNvPr id="14" name="Text 11"/>
          <p:cNvSpPr txBox="1"/>
          <p:nvPr/>
        </p:nvSpPr>
        <p:spPr>
          <a:xfrm>
            <a:off x="1554480" y="3163824"/>
            <a:ext cx="2743200" cy="365760"/>
          </a:xfrm>
          <a:prstGeom prst="rect">
            <a:avLst/>
          </a:prstGeom>
          <a:noFill/>
          <a:ln/>
        </p:spPr>
        <p:txBody>
          <a:bodyPr wrap="square" lIns="0" tIns="0" rIns="0" bIns="0" rtlCol="0" anchor="ctr"/>
          <a:lstStyle/>
          <a:p>
            <a:pPr indent="0" marL="0">
              <a:buNone/>
            </a:pPr>
            <a:r>
              <a:rPr lang="en-US" sz="1700" b="1" dirty="0">
                <a:solidFill>
                  <a:srgbClr val="E6EDF3"/>
                </a:solidFill>
                <a:latin typeface="Arial" pitchFamily="34" charset="0"/>
                <a:ea typeface="Arial" pitchFamily="34" charset="-122"/>
                <a:cs typeface="Arial" pitchFamily="34" charset="-120"/>
              </a:rPr>
              <a:t>MCP built in</a:t>
            </a:r>
            <a:endParaRPr lang="en-US" sz="1700" dirty="0"/>
          </a:p>
        </p:txBody>
      </p:sp>
      <p:sp>
        <p:nvSpPr>
          <p:cNvPr id="15" name="Text 12"/>
          <p:cNvSpPr txBox="1"/>
          <p:nvPr/>
        </p:nvSpPr>
        <p:spPr>
          <a:xfrm>
            <a:off x="1554480" y="3547872"/>
            <a:ext cx="9646920" cy="548640"/>
          </a:xfrm>
          <a:prstGeom prst="rect">
            <a:avLst/>
          </a:prstGeom>
          <a:noFill/>
          <a:ln/>
        </p:spPr>
        <p:txBody>
          <a:bodyPr wrap="square" lIns="0" tIns="0" rIns="0" bIns="0" rtlCol="0" anchor="ctr"/>
          <a:lstStyle/>
          <a:p>
            <a:pPr indent="0" marL="0">
              <a:lnSpc>
                <a:spcPts val="1900"/>
              </a:lnSpc>
              <a:buNone/>
            </a:pPr>
            <a:r>
              <a:rPr lang="en-US" sz="1350" dirty="0">
                <a:solidFill>
                  <a:srgbClr val="8B949E"/>
                </a:solidFill>
                <a:latin typeface="Calibri" pitchFamily="34" charset="0"/>
                <a:ea typeface="Calibri" pitchFamily="34" charset="-122"/>
                <a:cs typeface="Calibri" pitchFamily="34" charset="-120"/>
              </a:rPr>
              <a:t>GitHub’s MCP server ships by default. Custom MCP servers</a:t>
            </a:r>
            <a:endParaRPr lang="en-US" sz="1350" dirty="0"/>
          </a:p>
          <a:p>
            <a:pPr indent="0" marL="0">
              <a:lnSpc>
                <a:spcPts val="1900"/>
              </a:lnSpc>
              <a:buNone/>
            </a:pPr>
            <a:r>
              <a:rPr lang="en-US" sz="1350" dirty="0">
                <a:solidFill>
                  <a:srgbClr val="8B949E"/>
                </a:solidFill>
                <a:latin typeface="Calibri" pitchFamily="34" charset="0"/>
                <a:ea typeface="Calibri" pitchFamily="34" charset="-122"/>
                <a:cs typeface="Calibri" pitchFamily="34" charset="-120"/>
              </a:rPr>
              <a:t>are supported — remember this one.</a:t>
            </a:r>
            <a:endParaRPr lang="en-US" sz="1350" dirty="0"/>
          </a:p>
        </p:txBody>
      </p:sp>
      <p:sp>
        <p:nvSpPr>
          <p:cNvPr id="16" name="Shape 13"/>
          <p:cNvSpPr/>
          <p:nvPr/>
        </p:nvSpPr>
        <p:spPr>
          <a:xfrm>
            <a:off x="594360" y="4389120"/>
            <a:ext cx="10972800" cy="1298448"/>
          </a:xfrm>
          <a:prstGeom prst="roundRect">
            <a:avLst>
              <a:gd name="adj" fmla="val 3521"/>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7" name="Shape 14"/>
          <p:cNvSpPr/>
          <p:nvPr/>
        </p:nvSpPr>
        <p:spPr>
          <a:xfrm>
            <a:off x="868680" y="4791456"/>
            <a:ext cx="475488" cy="475488"/>
          </a:xfrm>
          <a:prstGeom prst="roundRect">
            <a:avLst>
              <a:gd name="adj" fmla="val 19231"/>
            </a:avLst>
          </a:prstGeom>
          <a:solidFill>
            <a:srgbClr val="1C2128"/>
          </a:solidFill>
          <a:ln w="12700">
            <a:solidFill>
              <a:srgbClr val="F0883E"/>
            </a:solidFill>
            <a:prstDash val="solid"/>
          </a:ln>
        </p:spPr>
      </p:sp>
      <p:sp>
        <p:nvSpPr>
          <p:cNvPr id="18" name="Text 15"/>
          <p:cNvSpPr txBox="1"/>
          <p:nvPr/>
        </p:nvSpPr>
        <p:spPr>
          <a:xfrm>
            <a:off x="868680" y="4791456"/>
            <a:ext cx="475488" cy="475488"/>
          </a:xfrm>
          <a:prstGeom prst="rect">
            <a:avLst/>
          </a:prstGeom>
          <a:noFill/>
          <a:ln/>
        </p:spPr>
        <p:txBody>
          <a:bodyPr wrap="square" lIns="0" tIns="0" rIns="0" bIns="0" rtlCol="0" anchor="ctr"/>
          <a:lstStyle/>
          <a:p>
            <a:pPr algn="ctr" indent="0" marL="0">
              <a:buNone/>
            </a:pPr>
            <a:r>
              <a:rPr lang="en-US" sz="1700" b="1" dirty="0">
                <a:solidFill>
                  <a:srgbClr val="F0883E"/>
                </a:solidFill>
                <a:latin typeface="Courier New" pitchFamily="34" charset="0"/>
                <a:ea typeface="Courier New" pitchFamily="34" charset="-122"/>
                <a:cs typeface="Courier New" pitchFamily="34" charset="-120"/>
              </a:rPr>
              <a:t>3</a:t>
            </a:r>
            <a:endParaRPr lang="en-US" sz="1700" dirty="0"/>
          </a:p>
        </p:txBody>
      </p:sp>
      <p:sp>
        <p:nvSpPr>
          <p:cNvPr id="19" name="Text 16"/>
          <p:cNvSpPr txBox="1"/>
          <p:nvPr/>
        </p:nvSpPr>
        <p:spPr>
          <a:xfrm>
            <a:off x="1554480" y="4626864"/>
            <a:ext cx="2743200" cy="365760"/>
          </a:xfrm>
          <a:prstGeom prst="rect">
            <a:avLst/>
          </a:prstGeom>
          <a:noFill/>
          <a:ln/>
        </p:spPr>
        <p:txBody>
          <a:bodyPr wrap="square" lIns="0" tIns="0" rIns="0" bIns="0" rtlCol="0" anchor="ctr"/>
          <a:lstStyle/>
          <a:p>
            <a:pPr indent="0" marL="0">
              <a:buNone/>
            </a:pPr>
            <a:r>
              <a:rPr lang="en-US" sz="1700" b="1" dirty="0">
                <a:solidFill>
                  <a:srgbClr val="E6EDF3"/>
                </a:solidFill>
                <a:latin typeface="Arial" pitchFamily="34" charset="0"/>
                <a:ea typeface="Arial" pitchFamily="34" charset="-122"/>
                <a:cs typeface="Arial" pitchFamily="34" charset="-120"/>
              </a:rPr>
              <a:t>Approval model</a:t>
            </a:r>
            <a:endParaRPr lang="en-US" sz="1700" dirty="0"/>
          </a:p>
        </p:txBody>
      </p:sp>
      <p:sp>
        <p:nvSpPr>
          <p:cNvPr id="20" name="Text 17"/>
          <p:cNvSpPr txBox="1"/>
          <p:nvPr/>
        </p:nvSpPr>
        <p:spPr>
          <a:xfrm>
            <a:off x="1554480" y="5010912"/>
            <a:ext cx="9646920" cy="548640"/>
          </a:xfrm>
          <a:prstGeom prst="rect">
            <a:avLst/>
          </a:prstGeom>
          <a:noFill/>
          <a:ln/>
        </p:spPr>
        <p:txBody>
          <a:bodyPr wrap="square" lIns="0" tIns="0" rIns="0" bIns="0" rtlCol="0" anchor="ctr"/>
          <a:lstStyle/>
          <a:p>
            <a:pPr indent="0" marL="0">
              <a:lnSpc>
                <a:spcPts val="1900"/>
              </a:lnSpc>
              <a:buNone/>
            </a:pPr>
            <a:r>
              <a:rPr lang="en-US" sz="1350" dirty="0">
                <a:solidFill>
                  <a:srgbClr val="8B949E"/>
                </a:solidFill>
                <a:latin typeface="Calibri" pitchFamily="34" charset="0"/>
                <a:ea typeface="Calibri" pitchFamily="34" charset="-122"/>
                <a:cs typeface="Calibri" pitchFamily="34" charset="-120"/>
              </a:rPr>
              <a:t>Read-only operations are auto-approved. Modifying operations</a:t>
            </a:r>
            <a:endParaRPr lang="en-US" sz="1350" dirty="0"/>
          </a:p>
          <a:p>
            <a:pPr indent="0" marL="0">
              <a:lnSpc>
                <a:spcPts val="1900"/>
              </a:lnSpc>
              <a:buNone/>
            </a:pPr>
            <a:r>
              <a:rPr lang="en-US" sz="1350" dirty="0">
                <a:solidFill>
                  <a:srgbClr val="8B949E"/>
                </a:solidFill>
                <a:latin typeface="Calibri" pitchFamily="34" charset="0"/>
                <a:ea typeface="Calibri" pitchFamily="34" charset="-122"/>
                <a:cs typeface="Calibri" pitchFamily="34" charset="-120"/>
              </a:rPr>
              <a:t>prompt for permission.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475488"/>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475488"/>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1051560" y="384048"/>
            <a:ext cx="10515600" cy="566928"/>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Getting in</a:t>
            </a:r>
            <a:endParaRPr lang="en-US" sz="3000" dirty="0"/>
          </a:p>
        </p:txBody>
      </p:sp>
      <p:sp>
        <p:nvSpPr>
          <p:cNvPr id="6" name="Shape 3"/>
          <p:cNvSpPr/>
          <p:nvPr/>
        </p:nvSpPr>
        <p:spPr>
          <a:xfrm>
            <a:off x="594360" y="1508760"/>
            <a:ext cx="6675120" cy="1600200"/>
          </a:xfrm>
          <a:prstGeom prst="roundRect">
            <a:avLst>
              <a:gd name="adj" fmla="val 2857"/>
            </a:avLst>
          </a:prstGeom>
          <a:solidFill>
            <a:srgbClr val="010409"/>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7" name="Text 4"/>
          <p:cNvSpPr txBox="1"/>
          <p:nvPr/>
        </p:nvSpPr>
        <p:spPr>
          <a:xfrm>
            <a:off x="832104" y="1691640"/>
            <a:ext cx="6217920" cy="1234440"/>
          </a:xfrm>
          <a:prstGeom prst="rect">
            <a:avLst/>
          </a:prstGeom>
          <a:noFill/>
          <a:ln/>
        </p:spPr>
        <p:txBody>
          <a:bodyPr wrap="square" lIns="0" tIns="0" rIns="0" bIns="0" rtlCol="0" anchor="t"/>
          <a:lstStyle/>
          <a:p>
            <a:pPr algn="l" indent="0" marL="0">
              <a:lnSpc>
                <a:spcPts val="1950"/>
              </a:lnSpc>
              <a:buNone/>
            </a:pPr>
            <a:r>
              <a:rPr lang="en-US" sz="1300" dirty="0">
                <a:solidFill>
                  <a:srgbClr val="E6EDF3"/>
                </a:solidFill>
                <a:latin typeface="Courier New" pitchFamily="34" charset="0"/>
                <a:ea typeface="Courier New" pitchFamily="34" charset="-122"/>
                <a:cs typeface="Courier New" pitchFamily="34" charset="-120"/>
              </a:rPr>
              <a:t>curl -fsSL https://gh.io/copilot-install | bash</a:t>
            </a:r>
            <a:endParaRPr lang="en-US" sz="1300" dirty="0"/>
          </a:p>
          <a:p>
            <a:pPr algn="l" indent="0" marL="0">
              <a:lnSpc>
                <a:spcPts val="1950"/>
              </a:lnSpc>
              <a:buNone/>
            </a:pPr>
            <a:r>
              <a:rPr lang="en-US" sz="1300" dirty="0">
                <a:solidFill>
                  <a:srgbClr val="E6EDF3"/>
                </a:solidFill>
                <a:latin typeface="Courier New" pitchFamily="34" charset="0"/>
                <a:ea typeface="Courier New" pitchFamily="34" charset="-122"/>
                <a:cs typeface="Courier New" pitchFamily="34" charset="-120"/>
              </a:rPr>
              <a:t>brew install copilot-cli</a:t>
            </a:r>
            <a:endParaRPr lang="en-US" sz="1300" dirty="0"/>
          </a:p>
          <a:p>
            <a:pPr algn="l" indent="0" marL="0">
              <a:lnSpc>
                <a:spcPts val="1950"/>
              </a:lnSpc>
              <a:buNone/>
            </a:pPr>
            <a:r>
              <a:rPr lang="en-US" sz="1300" dirty="0">
                <a:solidFill>
                  <a:srgbClr val="E6EDF3"/>
                </a:solidFill>
                <a:latin typeface="Courier New" pitchFamily="34" charset="0"/>
                <a:ea typeface="Courier New" pitchFamily="34" charset="-122"/>
                <a:cs typeface="Courier New" pitchFamily="34" charset="-120"/>
              </a:rPr>
              <a:t>winget install GitHub.Copilot</a:t>
            </a:r>
            <a:endParaRPr lang="en-US" sz="1300" dirty="0"/>
          </a:p>
          <a:p>
            <a:pPr algn="l" indent="0" marL="0">
              <a:lnSpc>
                <a:spcPts val="1950"/>
              </a:lnSpc>
              <a:buNone/>
            </a:pPr>
            <a:r>
              <a:rPr lang="en-US" sz="1300" dirty="0">
                <a:solidFill>
                  <a:srgbClr val="E6EDF3"/>
                </a:solidFill>
                <a:latin typeface="Courier New" pitchFamily="34" charset="0"/>
                <a:ea typeface="Courier New" pitchFamily="34" charset="-122"/>
                <a:cs typeface="Courier New" pitchFamily="34" charset="-120"/>
              </a:rPr>
              <a:t>npm install -g @github/copilot</a:t>
            </a:r>
            <a:endParaRPr lang="en-US" sz="1300" dirty="0"/>
          </a:p>
        </p:txBody>
      </p:sp>
      <p:sp>
        <p:nvSpPr>
          <p:cNvPr id="8" name="Shape 5"/>
          <p:cNvSpPr/>
          <p:nvPr/>
        </p:nvSpPr>
        <p:spPr>
          <a:xfrm>
            <a:off x="7543800" y="1508760"/>
            <a:ext cx="4023360" cy="1600200"/>
          </a:xfrm>
          <a:prstGeom prst="roundRect">
            <a:avLst>
              <a:gd name="adj" fmla="val 2857"/>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9" name="Text 6"/>
          <p:cNvSpPr txBox="1"/>
          <p:nvPr/>
        </p:nvSpPr>
        <p:spPr>
          <a:xfrm>
            <a:off x="7818120" y="1719072"/>
            <a:ext cx="3200400" cy="292608"/>
          </a:xfrm>
          <a:prstGeom prst="rect">
            <a:avLst/>
          </a:prstGeom>
          <a:noFill/>
          <a:ln/>
        </p:spPr>
        <p:txBody>
          <a:bodyPr wrap="square" lIns="0" tIns="0" rIns="0" bIns="0" rtlCol="0" anchor="ctr"/>
          <a:lstStyle/>
          <a:p>
            <a:pPr indent="0" marL="0">
              <a:buNone/>
            </a:pPr>
            <a:r>
              <a:rPr lang="en-US" sz="1500" b="1" dirty="0">
                <a:solidFill>
                  <a:srgbClr val="F0883E"/>
                </a:solidFill>
                <a:latin typeface="Arial" pitchFamily="34" charset="0"/>
                <a:ea typeface="Arial" pitchFamily="34" charset="-122"/>
                <a:cs typeface="Arial" pitchFamily="34" charset="-120"/>
              </a:rPr>
              <a:t>Auth</a:t>
            </a:r>
            <a:endParaRPr lang="en-US" sz="1500" dirty="0"/>
          </a:p>
        </p:txBody>
      </p:sp>
      <p:sp>
        <p:nvSpPr>
          <p:cNvPr id="10" name="Text 7"/>
          <p:cNvSpPr txBox="1"/>
          <p:nvPr/>
        </p:nvSpPr>
        <p:spPr>
          <a:xfrm>
            <a:off x="7818120" y="2103120"/>
            <a:ext cx="3474720" cy="1005840"/>
          </a:xfrm>
          <a:prstGeom prst="rect">
            <a:avLst/>
          </a:prstGeom>
          <a:noFill/>
          <a:ln/>
        </p:spPr>
        <p:txBody>
          <a:bodyPr wrap="square" lIns="0" tIns="0" rIns="0" bIns="0" rtlCol="0" anchor="ctr"/>
          <a:lstStyle/>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/login on first launch, or a fine-grained PAT</a:t>
            </a:r>
            <a:endParaRPr lang="en-US" sz="1250" dirty="0"/>
          </a:p>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with the Copilot Requests permission, as</a:t>
            </a:r>
            <a:endParaRPr lang="en-US" sz="1250" dirty="0"/>
          </a:p>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GH_TOKEN or GITHUB_TOKEN — in that order.</a:t>
            </a:r>
            <a:endParaRPr lang="en-US" sz="1250" dirty="0"/>
          </a:p>
        </p:txBody>
      </p:sp>
      <p:sp>
        <p:nvSpPr>
          <p:cNvPr id="11" name="Shape 8"/>
          <p:cNvSpPr/>
          <p:nvPr/>
        </p:nvSpPr>
        <p:spPr>
          <a:xfrm>
            <a:off x="594360" y="3383280"/>
            <a:ext cx="10972800" cy="960120"/>
          </a:xfrm>
          <a:prstGeom prst="roundRect">
            <a:avLst>
              <a:gd name="adj" fmla="val 4762"/>
            </a:avLst>
          </a:prstGeom>
          <a:solidFill>
            <a:srgbClr val="1C2128"/>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2" name="Text 9"/>
          <p:cNvSpPr txBox="1"/>
          <p:nvPr/>
        </p:nvSpPr>
        <p:spPr>
          <a:xfrm>
            <a:off x="914400" y="3538728"/>
            <a:ext cx="10332720" cy="640080"/>
          </a:xfrm>
          <a:prstGeom prst="rect">
            <a:avLst/>
          </a:prstGeom>
          <a:noFill/>
          <a:ln/>
        </p:spPr>
        <p:txBody>
          <a:bodyPr wrap="square" lIns="0" tIns="0" rIns="0" bIns="0" rtlCol="0" anchor="ctr"/>
          <a:lstStyle/>
          <a:p>
            <a:pPr indent="0" marL="0">
              <a:lnSpc>
                <a:spcPts val="2100"/>
              </a:lnSpc>
              <a:buNone/>
            </a:pPr>
            <a:r>
              <a:rPr lang="en-US" sz="1400" b="1" dirty="0">
                <a:solidFill>
                  <a:srgbClr val="F0883E"/>
                </a:solidFill>
                <a:latin typeface="Calibri" pitchFamily="34" charset="0"/>
                <a:ea typeface="Calibri" pitchFamily="34" charset="-122"/>
                <a:cs typeface="Calibri" pitchFamily="34" charset="-120"/>
              </a:rPr>
              <a:t>Worth knowing.  </a:t>
            </a:r>
            <a:pPr indent="0" marL="0">
              <a:lnSpc>
                <a:spcPts val="2100"/>
              </a:lnSpc>
              <a:buNone/>
            </a:pPr>
            <a:r>
              <a:rPr lang="en-US" sz="1400" dirty="0">
                <a:solidFill>
                  <a:srgbClr val="E6EDF3"/>
                </a:solidFill>
                <a:latin typeface="Calibri" pitchFamily="34" charset="0"/>
                <a:ea typeface="Calibri" pitchFamily="34" charset="-122"/>
                <a:cs typeface="Calibri" pitchFamily="34" charset="-120"/>
              </a:rPr>
              <a:t>An org or enterprise admin can disable Copilot CLI outright. If it will not start for someone, check policy before you debug their token.</a:t>
            </a:r>
            <a:endParaRPr lang="en-US" sz="1400" dirty="0"/>
          </a:p>
        </p:txBody>
      </p:sp>
      <p:sp>
        <p:nvSpPr>
          <p:cNvPr id="13" name="Text 10"/>
          <p:cNvSpPr txBox="1"/>
          <p:nvPr/>
        </p:nvSpPr>
        <p:spPr>
          <a:xfrm>
            <a:off x="594360" y="4572000"/>
            <a:ext cx="10972800" cy="274320"/>
          </a:xfrm>
          <a:prstGeom prst="rect">
            <a:avLst/>
          </a:prstGeom>
          <a:noFill/>
          <a:ln/>
        </p:spPr>
        <p:txBody>
          <a:bodyPr wrap="square" lIns="0" tIns="0" rIns="0" bIns="0" rtlCol="0" anchor="ctr"/>
          <a:lstStyle/>
          <a:p>
            <a:pPr indent="0" marL="0">
              <a:buNone/>
            </a:pPr>
            <a:r>
              <a:rPr lang="en-US" sz="1150" dirty="0">
                <a:solidFill>
                  <a:srgbClr val="8B949E"/>
                </a:solidFill>
                <a:latin typeface="Calibri" pitchFamily="34" charset="0"/>
                <a:ea typeface="Calibri" pitchFamily="34" charset="-122"/>
                <a:cs typeface="Calibri" pitchFamily="34" charset="-120"/>
              </a:rPr>
              <a:t>Windows needs PowerShell 6+. An active Copilot subscription is required.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475488"/>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475488"/>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1051560" y="384048"/>
            <a:ext cx="10515600" cy="566928"/>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Where the controls live</a:t>
            </a:r>
            <a:endParaRPr lang="en-US" sz="3000" dirty="0"/>
          </a:p>
        </p:txBody>
      </p:sp>
      <p:sp>
        <p:nvSpPr>
          <p:cNvPr id="6" name="Shape 3"/>
          <p:cNvSpPr/>
          <p:nvPr/>
        </p:nvSpPr>
        <p:spPr>
          <a:xfrm>
            <a:off x="594360" y="1417320"/>
            <a:ext cx="10972800" cy="658368"/>
          </a:xfrm>
          <a:prstGeom prst="roundRect">
            <a:avLst>
              <a:gd name="adj" fmla="val 6944"/>
            </a:avLst>
          </a:prstGeom>
          <a:solidFill>
            <a:srgbClr val="2B1D10"/>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7" name="Text 4"/>
          <p:cNvSpPr txBox="1"/>
          <p:nvPr/>
        </p:nvSpPr>
        <p:spPr>
          <a:xfrm>
            <a:off x="795528" y="1417320"/>
            <a:ext cx="457200" cy="658368"/>
          </a:xfrm>
          <a:prstGeom prst="rect">
            <a:avLst/>
          </a:prstGeom>
          <a:noFill/>
          <a:ln/>
        </p:spPr>
        <p:txBody>
          <a:bodyPr wrap="square" lIns="0" tIns="0" rIns="0" bIns="0" rtlCol="0" anchor="ctr"/>
          <a:lstStyle/>
          <a:p>
            <a:pPr algn="ctr" indent="0" marL="0">
              <a:buNone/>
            </a:pPr>
            <a:r>
              <a:rPr lang="en-US" sz="1800" b="1" dirty="0">
                <a:solidFill>
                  <a:srgbClr val="F0883E"/>
                </a:solidFill>
                <a:latin typeface="Courier New" pitchFamily="34" charset="0"/>
                <a:ea typeface="Courier New" pitchFamily="34" charset="-122"/>
                <a:cs typeface="Courier New" pitchFamily="34" charset="-120"/>
              </a:rPr>
              <a:t>0</a:t>
            </a:r>
            <a:endParaRPr lang="en-US" sz="1800" dirty="0"/>
          </a:p>
        </p:txBody>
      </p:sp>
      <p:sp>
        <p:nvSpPr>
          <p:cNvPr id="8" name="Text 5"/>
          <p:cNvSpPr txBox="1"/>
          <p:nvPr/>
        </p:nvSpPr>
        <p:spPr>
          <a:xfrm>
            <a:off x="1371600" y="1417320"/>
            <a:ext cx="6492240" cy="658368"/>
          </a:xfrm>
          <a:prstGeom prst="rect">
            <a:avLst/>
          </a:prstGeom>
          <a:noFill/>
          <a:ln/>
        </p:spPr>
        <p:txBody>
          <a:bodyPr wrap="square" lIns="0" tIns="0" rIns="0" bIns="0" rtlCol="0" anchor="ctr"/>
          <a:lstStyle/>
          <a:p>
            <a:pPr indent="0" marL="0">
              <a:buNone/>
            </a:pPr>
            <a:r>
              <a:rPr lang="en-US" sz="1500" b="1" dirty="0">
                <a:solidFill>
                  <a:srgbClr val="E6EDF3"/>
                </a:solidFill>
                <a:latin typeface="Arial" pitchFamily="34" charset="0"/>
                <a:ea typeface="Arial" pitchFamily="34" charset="-122"/>
                <a:cs typeface="Arial" pitchFamily="34" charset="-120"/>
              </a:rPr>
              <a:t>Your OS user, ADC, kubeconfig, SSH keys</a:t>
            </a:r>
            <a:endParaRPr lang="en-US" sz="1500" dirty="0"/>
          </a:p>
        </p:txBody>
      </p:sp>
      <p:sp>
        <p:nvSpPr>
          <p:cNvPr id="9" name="Text 6"/>
          <p:cNvSpPr txBox="1"/>
          <p:nvPr/>
        </p:nvSpPr>
        <p:spPr>
          <a:xfrm>
            <a:off x="8001000" y="1417320"/>
            <a:ext cx="3383280" cy="658368"/>
          </a:xfrm>
          <a:prstGeom prst="rect">
            <a:avLst/>
          </a:prstGeom>
          <a:noFill/>
          <a:ln/>
        </p:spPr>
        <p:txBody>
          <a:bodyPr wrap="square" lIns="0" tIns="0" rIns="0" bIns="0" rtlCol="0" anchor="ctr"/>
          <a:lstStyle/>
          <a:p>
            <a:pPr algn="r" indent="0" marL="0">
              <a:buNone/>
            </a:pPr>
            <a:r>
              <a:rPr lang="en-US" sz="1300" b="1" dirty="0">
                <a:solidFill>
                  <a:srgbClr val="F0883E"/>
                </a:solidFill>
                <a:latin typeface="Calibri" pitchFamily="34" charset="0"/>
                <a:ea typeface="Calibri" pitchFamily="34" charset="-122"/>
                <a:cs typeface="Calibri" pitchFamily="34" charset="-120"/>
              </a:rPr>
              <a:t>Nothing in Copilot</a:t>
            </a:r>
            <a:endParaRPr lang="en-US" sz="1300" dirty="0"/>
          </a:p>
        </p:txBody>
      </p:sp>
      <p:sp>
        <p:nvSpPr>
          <p:cNvPr id="10" name="Shape 7"/>
          <p:cNvSpPr/>
          <p:nvPr/>
        </p:nvSpPr>
        <p:spPr>
          <a:xfrm>
            <a:off x="594360" y="2167128"/>
            <a:ext cx="10972800" cy="658368"/>
          </a:xfrm>
          <a:prstGeom prst="roundRect">
            <a:avLst>
              <a:gd name="adj" fmla="val 6944"/>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1" name="Text 8"/>
          <p:cNvSpPr txBox="1"/>
          <p:nvPr/>
        </p:nvSpPr>
        <p:spPr>
          <a:xfrm>
            <a:off x="795528" y="2167128"/>
            <a:ext cx="457200" cy="658368"/>
          </a:xfrm>
          <a:prstGeom prst="rect">
            <a:avLst/>
          </a:prstGeom>
          <a:noFill/>
          <a:ln/>
        </p:spPr>
        <p:txBody>
          <a:bodyPr wrap="square" lIns="0" tIns="0" rIns="0" bIns="0" rtlCol="0" anchor="ctr"/>
          <a:lstStyle/>
          <a:p>
            <a:pPr algn="ctr" indent="0" marL="0">
              <a:buNone/>
            </a:pPr>
            <a:r>
              <a:rPr lang="en-US" sz="1800" b="1" dirty="0">
                <a:solidFill>
                  <a:srgbClr val="8B949E"/>
                </a:solidFill>
                <a:latin typeface="Courier New" pitchFamily="34" charset="0"/>
                <a:ea typeface="Courier New" pitchFamily="34" charset="-122"/>
                <a:cs typeface="Courier New" pitchFamily="34" charset="-120"/>
              </a:rPr>
              <a:t>1</a:t>
            </a:r>
            <a:endParaRPr lang="en-US" sz="1800" dirty="0"/>
          </a:p>
        </p:txBody>
      </p:sp>
      <p:sp>
        <p:nvSpPr>
          <p:cNvPr id="12" name="Text 9"/>
          <p:cNvSpPr txBox="1"/>
          <p:nvPr/>
        </p:nvSpPr>
        <p:spPr>
          <a:xfrm>
            <a:off x="1371600" y="2167128"/>
            <a:ext cx="6492240" cy="658368"/>
          </a:xfrm>
          <a:prstGeom prst="rect">
            <a:avLst/>
          </a:prstGeom>
          <a:noFill/>
          <a:ln/>
        </p:spPr>
        <p:txBody>
          <a:bodyPr wrap="square" lIns="0" tIns="0" rIns="0" bIns="0" rtlCol="0" anchor="ctr"/>
          <a:lstStyle/>
          <a:p>
            <a:pPr indent="0" marL="0">
              <a:buNone/>
            </a:pPr>
            <a:r>
              <a:rPr lang="en-US" sz="1400" dirty="0">
                <a:solidFill>
                  <a:srgbClr val="E6EDF3"/>
                </a:solidFill>
                <a:latin typeface="Calibri" pitchFamily="34" charset="0"/>
                <a:ea typeface="Calibri" pitchFamily="34" charset="-122"/>
                <a:cs typeface="Calibri" pitchFamily="34" charset="-120"/>
              </a:rPr>
              <a:t>Tool visibility  —  --available-tools / --excluded-tools</a:t>
            </a:r>
            <a:endParaRPr lang="en-US" sz="1400" dirty="0"/>
          </a:p>
        </p:txBody>
      </p:sp>
      <p:sp>
        <p:nvSpPr>
          <p:cNvPr id="13" name="Text 10"/>
          <p:cNvSpPr txBox="1"/>
          <p:nvPr/>
        </p:nvSpPr>
        <p:spPr>
          <a:xfrm>
            <a:off x="8001000" y="2167128"/>
            <a:ext cx="3383280" cy="658368"/>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Model never sees the tool</a:t>
            </a:r>
            <a:endParaRPr lang="en-US" sz="1300" dirty="0"/>
          </a:p>
        </p:txBody>
      </p:sp>
      <p:sp>
        <p:nvSpPr>
          <p:cNvPr id="14" name="Shape 11"/>
          <p:cNvSpPr/>
          <p:nvPr/>
        </p:nvSpPr>
        <p:spPr>
          <a:xfrm>
            <a:off x="594360" y="2916936"/>
            <a:ext cx="10972800" cy="658368"/>
          </a:xfrm>
          <a:prstGeom prst="roundRect">
            <a:avLst>
              <a:gd name="adj" fmla="val 6944"/>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5" name="Text 12"/>
          <p:cNvSpPr txBox="1"/>
          <p:nvPr/>
        </p:nvSpPr>
        <p:spPr>
          <a:xfrm>
            <a:off x="795528" y="2916936"/>
            <a:ext cx="457200" cy="658368"/>
          </a:xfrm>
          <a:prstGeom prst="rect">
            <a:avLst/>
          </a:prstGeom>
          <a:noFill/>
          <a:ln/>
        </p:spPr>
        <p:txBody>
          <a:bodyPr wrap="square" lIns="0" tIns="0" rIns="0" bIns="0" rtlCol="0" anchor="ctr"/>
          <a:lstStyle/>
          <a:p>
            <a:pPr algn="ctr" indent="0" marL="0">
              <a:buNone/>
            </a:pPr>
            <a:r>
              <a:rPr lang="en-US" sz="1800" b="1" dirty="0">
                <a:solidFill>
                  <a:srgbClr val="8B949E"/>
                </a:solidFill>
                <a:latin typeface="Courier New" pitchFamily="34" charset="0"/>
                <a:ea typeface="Courier New" pitchFamily="34" charset="-122"/>
                <a:cs typeface="Courier New" pitchFamily="34" charset="-120"/>
              </a:rPr>
              <a:t>2</a:t>
            </a:r>
            <a:endParaRPr lang="en-US" sz="1800" dirty="0"/>
          </a:p>
        </p:txBody>
      </p:sp>
      <p:sp>
        <p:nvSpPr>
          <p:cNvPr id="16" name="Text 13"/>
          <p:cNvSpPr txBox="1"/>
          <p:nvPr/>
        </p:nvSpPr>
        <p:spPr>
          <a:xfrm>
            <a:off x="1371600" y="2916936"/>
            <a:ext cx="6492240" cy="658368"/>
          </a:xfrm>
          <a:prstGeom prst="rect">
            <a:avLst/>
          </a:prstGeom>
          <a:noFill/>
          <a:ln/>
        </p:spPr>
        <p:txBody>
          <a:bodyPr wrap="square" lIns="0" tIns="0" rIns="0" bIns="0" rtlCol="0" anchor="ctr"/>
          <a:lstStyle/>
          <a:p>
            <a:pPr indent="0" marL="0">
              <a:buNone/>
            </a:pPr>
            <a:r>
              <a:rPr lang="en-US" sz="1400" dirty="0">
                <a:solidFill>
                  <a:srgbClr val="E6EDF3"/>
                </a:solidFill>
                <a:latin typeface="Calibri" pitchFamily="34" charset="0"/>
                <a:ea typeface="Calibri" pitchFamily="34" charset="-122"/>
                <a:cs typeface="Calibri" pitchFamily="34" charset="-120"/>
              </a:rPr>
              <a:t>Tool permission  —  --allow-tool / --deny-tool</a:t>
            </a:r>
            <a:endParaRPr lang="en-US" sz="1400" dirty="0"/>
          </a:p>
        </p:txBody>
      </p:sp>
      <p:sp>
        <p:nvSpPr>
          <p:cNvPr id="17" name="Text 14"/>
          <p:cNvSpPr txBox="1"/>
          <p:nvPr/>
        </p:nvSpPr>
        <p:spPr>
          <a:xfrm>
            <a:off x="8001000" y="2916936"/>
            <a:ext cx="3383280" cy="658368"/>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Approval prompt logic</a:t>
            </a:r>
            <a:endParaRPr lang="en-US" sz="1300" dirty="0"/>
          </a:p>
        </p:txBody>
      </p:sp>
      <p:sp>
        <p:nvSpPr>
          <p:cNvPr id="18" name="Shape 15"/>
          <p:cNvSpPr/>
          <p:nvPr/>
        </p:nvSpPr>
        <p:spPr>
          <a:xfrm>
            <a:off x="594360" y="3666744"/>
            <a:ext cx="10972800" cy="658368"/>
          </a:xfrm>
          <a:prstGeom prst="roundRect">
            <a:avLst>
              <a:gd name="adj" fmla="val 6944"/>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9" name="Text 16"/>
          <p:cNvSpPr txBox="1"/>
          <p:nvPr/>
        </p:nvSpPr>
        <p:spPr>
          <a:xfrm>
            <a:off x="795528" y="3666744"/>
            <a:ext cx="457200" cy="658368"/>
          </a:xfrm>
          <a:prstGeom prst="rect">
            <a:avLst/>
          </a:prstGeom>
          <a:noFill/>
          <a:ln/>
        </p:spPr>
        <p:txBody>
          <a:bodyPr wrap="square" lIns="0" tIns="0" rIns="0" bIns="0" rtlCol="0" anchor="ctr"/>
          <a:lstStyle/>
          <a:p>
            <a:pPr algn="ctr" indent="0" marL="0">
              <a:buNone/>
            </a:pPr>
            <a:r>
              <a:rPr lang="en-US" sz="1800" b="1" dirty="0">
                <a:solidFill>
                  <a:srgbClr val="8B949E"/>
                </a:solidFill>
                <a:latin typeface="Courier New" pitchFamily="34" charset="0"/>
                <a:ea typeface="Courier New" pitchFamily="34" charset="-122"/>
                <a:cs typeface="Courier New" pitchFamily="34" charset="-120"/>
              </a:rPr>
              <a:t>3</a:t>
            </a:r>
            <a:endParaRPr lang="en-US" sz="1800" dirty="0"/>
          </a:p>
        </p:txBody>
      </p:sp>
      <p:sp>
        <p:nvSpPr>
          <p:cNvPr id="20" name="Text 17"/>
          <p:cNvSpPr txBox="1"/>
          <p:nvPr/>
        </p:nvSpPr>
        <p:spPr>
          <a:xfrm>
            <a:off x="1371600" y="3666744"/>
            <a:ext cx="6492240" cy="658368"/>
          </a:xfrm>
          <a:prstGeom prst="rect">
            <a:avLst/>
          </a:prstGeom>
          <a:noFill/>
          <a:ln/>
        </p:spPr>
        <p:txBody>
          <a:bodyPr wrap="square" lIns="0" tIns="0" rIns="0" bIns="0" rtlCol="0" anchor="ctr"/>
          <a:lstStyle/>
          <a:p>
            <a:pPr indent="0" marL="0">
              <a:buNone/>
            </a:pPr>
            <a:r>
              <a:rPr lang="en-US" sz="1400" dirty="0">
                <a:solidFill>
                  <a:srgbClr val="E6EDF3"/>
                </a:solidFill>
                <a:latin typeface="Calibri" pitchFamily="34" charset="0"/>
                <a:ea typeface="Calibri" pitchFamily="34" charset="-122"/>
                <a:cs typeface="Calibri" pitchFamily="34" charset="-120"/>
              </a:rPr>
              <a:t>Path and URL scope  —  default: CWD, subdirs, temp</a:t>
            </a:r>
            <a:endParaRPr lang="en-US" sz="1400" dirty="0"/>
          </a:p>
        </p:txBody>
      </p:sp>
      <p:sp>
        <p:nvSpPr>
          <p:cNvPr id="21" name="Text 18"/>
          <p:cNvSpPr txBox="1"/>
          <p:nvPr/>
        </p:nvSpPr>
        <p:spPr>
          <a:xfrm>
            <a:off x="8001000" y="3666744"/>
            <a:ext cx="3383280" cy="658368"/>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The CLI</a:t>
            </a:r>
            <a:endParaRPr lang="en-US" sz="1300" dirty="0"/>
          </a:p>
        </p:txBody>
      </p:sp>
      <p:sp>
        <p:nvSpPr>
          <p:cNvPr id="22" name="Shape 19"/>
          <p:cNvSpPr/>
          <p:nvPr/>
        </p:nvSpPr>
        <p:spPr>
          <a:xfrm>
            <a:off x="594360" y="4416552"/>
            <a:ext cx="10972800" cy="658368"/>
          </a:xfrm>
          <a:prstGeom prst="roundRect">
            <a:avLst>
              <a:gd name="adj" fmla="val 6944"/>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23" name="Text 20"/>
          <p:cNvSpPr txBox="1"/>
          <p:nvPr/>
        </p:nvSpPr>
        <p:spPr>
          <a:xfrm>
            <a:off x="795528" y="4416552"/>
            <a:ext cx="457200" cy="658368"/>
          </a:xfrm>
          <a:prstGeom prst="rect">
            <a:avLst/>
          </a:prstGeom>
          <a:noFill/>
          <a:ln/>
        </p:spPr>
        <p:txBody>
          <a:bodyPr wrap="square" lIns="0" tIns="0" rIns="0" bIns="0" rtlCol="0" anchor="ctr"/>
          <a:lstStyle/>
          <a:p>
            <a:pPr algn="ctr" indent="0" marL="0">
              <a:buNone/>
            </a:pPr>
            <a:r>
              <a:rPr lang="en-US" sz="1800" b="1" dirty="0">
                <a:solidFill>
                  <a:srgbClr val="8B949E"/>
                </a:solidFill>
                <a:latin typeface="Courier New" pitchFamily="34" charset="0"/>
                <a:ea typeface="Courier New" pitchFamily="34" charset="-122"/>
                <a:cs typeface="Courier New" pitchFamily="34" charset="-120"/>
              </a:rPr>
              <a:t>4</a:t>
            </a:r>
            <a:endParaRPr lang="en-US" sz="1800" dirty="0"/>
          </a:p>
        </p:txBody>
      </p:sp>
      <p:sp>
        <p:nvSpPr>
          <p:cNvPr id="24" name="Text 21"/>
          <p:cNvSpPr txBox="1"/>
          <p:nvPr/>
        </p:nvSpPr>
        <p:spPr>
          <a:xfrm>
            <a:off x="1371600" y="4416552"/>
            <a:ext cx="6492240" cy="658368"/>
          </a:xfrm>
          <a:prstGeom prst="rect">
            <a:avLst/>
          </a:prstGeom>
          <a:noFill/>
          <a:ln/>
        </p:spPr>
        <p:txBody>
          <a:bodyPr wrap="square" lIns="0" tIns="0" rIns="0" bIns="0" rtlCol="0" anchor="ctr"/>
          <a:lstStyle/>
          <a:p>
            <a:pPr indent="0" marL="0">
              <a:buNone/>
            </a:pPr>
            <a:r>
              <a:rPr lang="en-US" sz="1400" dirty="0">
                <a:solidFill>
                  <a:srgbClr val="E6EDF3"/>
                </a:solidFill>
                <a:latin typeface="Calibri" pitchFamily="34" charset="0"/>
                <a:ea typeface="Calibri" pitchFamily="34" charset="-122"/>
                <a:cs typeface="Calibri" pitchFamily="34" charset="-120"/>
              </a:rPr>
              <a:t>Local sandbox  —  deny-by-default filesystem policy</a:t>
            </a:r>
            <a:endParaRPr lang="en-US" sz="1400" dirty="0"/>
          </a:p>
        </p:txBody>
      </p:sp>
      <p:sp>
        <p:nvSpPr>
          <p:cNvPr id="25" name="Text 22"/>
          <p:cNvSpPr txBox="1"/>
          <p:nvPr/>
        </p:nvSpPr>
        <p:spPr>
          <a:xfrm>
            <a:off x="8001000" y="4416552"/>
            <a:ext cx="3383280" cy="658368"/>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The OS, partially</a:t>
            </a:r>
            <a:endParaRPr lang="en-US" sz="1300" dirty="0"/>
          </a:p>
        </p:txBody>
      </p:sp>
      <p:sp>
        <p:nvSpPr>
          <p:cNvPr id="26" name="Shape 23"/>
          <p:cNvSpPr/>
          <p:nvPr/>
        </p:nvSpPr>
        <p:spPr>
          <a:xfrm>
            <a:off x="594360" y="5166360"/>
            <a:ext cx="10972800" cy="658368"/>
          </a:xfrm>
          <a:prstGeom prst="roundRect">
            <a:avLst>
              <a:gd name="adj" fmla="val 6944"/>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27" name="Text 24"/>
          <p:cNvSpPr txBox="1"/>
          <p:nvPr/>
        </p:nvSpPr>
        <p:spPr>
          <a:xfrm>
            <a:off x="795528" y="5166360"/>
            <a:ext cx="457200" cy="658368"/>
          </a:xfrm>
          <a:prstGeom prst="rect">
            <a:avLst/>
          </a:prstGeom>
          <a:noFill/>
          <a:ln/>
        </p:spPr>
        <p:txBody>
          <a:bodyPr wrap="square" lIns="0" tIns="0" rIns="0" bIns="0" rtlCol="0" anchor="ctr"/>
          <a:lstStyle/>
          <a:p>
            <a:pPr algn="ctr" indent="0" marL="0">
              <a:buNone/>
            </a:pPr>
            <a:r>
              <a:rPr lang="en-US" sz="1800" b="1" dirty="0">
                <a:solidFill>
                  <a:srgbClr val="8B949E"/>
                </a:solidFill>
                <a:latin typeface="Courier New" pitchFamily="34" charset="0"/>
                <a:ea typeface="Courier New" pitchFamily="34" charset="-122"/>
                <a:cs typeface="Courier New" pitchFamily="34" charset="-120"/>
              </a:rPr>
              <a:t>5</a:t>
            </a:r>
            <a:endParaRPr lang="en-US" sz="1800" dirty="0"/>
          </a:p>
        </p:txBody>
      </p:sp>
      <p:sp>
        <p:nvSpPr>
          <p:cNvPr id="28" name="Text 25"/>
          <p:cNvSpPr txBox="1"/>
          <p:nvPr/>
        </p:nvSpPr>
        <p:spPr>
          <a:xfrm>
            <a:off x="1371600" y="5166360"/>
            <a:ext cx="6492240" cy="658368"/>
          </a:xfrm>
          <a:prstGeom prst="rect">
            <a:avLst/>
          </a:prstGeom>
          <a:noFill/>
          <a:ln/>
        </p:spPr>
        <p:txBody>
          <a:bodyPr wrap="square" lIns="0" tIns="0" rIns="0" bIns="0" rtlCol="0" anchor="ctr"/>
          <a:lstStyle/>
          <a:p>
            <a:pPr indent="0" marL="0">
              <a:buNone/>
            </a:pPr>
            <a:r>
              <a:rPr lang="en-US" sz="1400" dirty="0">
                <a:solidFill>
                  <a:srgbClr val="E6EDF3"/>
                </a:solidFill>
                <a:latin typeface="Calibri" pitchFamily="34" charset="0"/>
                <a:ea typeface="Calibri" pitchFamily="34" charset="-122"/>
                <a:cs typeface="Calibri" pitchFamily="34" charset="-120"/>
              </a:rPr>
              <a:t>Hooks and enterprise managed settings</a:t>
            </a:r>
            <a:endParaRPr lang="en-US" sz="1400" dirty="0"/>
          </a:p>
        </p:txBody>
      </p:sp>
      <p:sp>
        <p:nvSpPr>
          <p:cNvPr id="29" name="Text 26"/>
          <p:cNvSpPr txBox="1"/>
          <p:nvPr/>
        </p:nvSpPr>
        <p:spPr>
          <a:xfrm>
            <a:off x="8001000" y="5166360"/>
            <a:ext cx="3383280" cy="658368"/>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Your code / your admin</a:t>
            </a:r>
            <a:endParaRPr lang="en-US" sz="1300" dirty="0"/>
          </a:p>
        </p:txBody>
      </p:sp>
      <p:sp>
        <p:nvSpPr>
          <p:cNvPr id="30" name="Text 27"/>
          <p:cNvSpPr txBox="1"/>
          <p:nvPr/>
        </p:nvSpPr>
        <p:spPr>
          <a:xfrm>
            <a:off x="594360" y="6053328"/>
            <a:ext cx="10972800" cy="320040"/>
          </a:xfrm>
          <a:prstGeom prst="rect">
            <a:avLst/>
          </a:prstGeom>
          <a:noFill/>
          <a:ln/>
        </p:spPr>
        <p:txBody>
          <a:bodyPr wrap="square" lIns="0" tIns="0" rIns="0" bIns="0" rtlCol="0" anchor="ctr"/>
          <a:lstStyle/>
          <a:p>
            <a:pPr indent="0" marL="0">
              <a:buNone/>
            </a:pPr>
            <a:r>
              <a:rPr lang="en-US" sz="1400" i="1" dirty="0">
                <a:solidFill>
                  <a:srgbClr val="F0883E"/>
                </a:solidFill>
                <a:latin typeface="Calibri" pitchFamily="34" charset="0"/>
                <a:ea typeface="Calibri" pitchFamily="34" charset="-122"/>
                <a:cs typeface="Calibri" pitchFamily="34" charset="-120"/>
              </a:rPr>
              <a:t>Six layers of vendor control sit on top of one layer the vendor does not touch.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475488"/>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475488"/>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1051560" y="384048"/>
            <a:ext cx="10515600" cy="566928"/>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Visibility is not permission</a:t>
            </a:r>
            <a:endParaRPr lang="en-US" sz="3000" dirty="0"/>
          </a:p>
        </p:txBody>
      </p:sp>
      <p:sp>
        <p:nvSpPr>
          <p:cNvPr id="6" name="Shape 3"/>
          <p:cNvSpPr/>
          <p:nvPr/>
        </p:nvSpPr>
        <p:spPr>
          <a:xfrm>
            <a:off x="594360" y="1417320"/>
            <a:ext cx="5349240" cy="3017520"/>
          </a:xfrm>
          <a:prstGeom prst="roundRect">
            <a:avLst>
              <a:gd name="adj" fmla="val 1515"/>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7" name="Text 4"/>
          <p:cNvSpPr txBox="1"/>
          <p:nvPr/>
        </p:nvSpPr>
        <p:spPr>
          <a:xfrm>
            <a:off x="914400" y="1645920"/>
            <a:ext cx="4709160" cy="320040"/>
          </a:xfrm>
          <a:prstGeom prst="rect">
            <a:avLst/>
          </a:prstGeom>
          <a:noFill/>
          <a:ln/>
        </p:spPr>
        <p:txBody>
          <a:bodyPr wrap="square" lIns="0" tIns="0" rIns="0" bIns="0" rtlCol="0" anchor="ctr"/>
          <a:lstStyle/>
          <a:p>
            <a:pPr indent="0" marL="0">
              <a:buNone/>
            </a:pPr>
            <a:r>
              <a:rPr lang="en-US" sz="1700" b="1" dirty="0">
                <a:solidFill>
                  <a:srgbClr val="58A6FF"/>
                </a:solidFill>
                <a:latin typeface="Arial" pitchFamily="34" charset="0"/>
                <a:ea typeface="Arial" pitchFamily="34" charset="-122"/>
                <a:cs typeface="Arial" pitchFamily="34" charset="-120"/>
              </a:rPr>
              <a:t>Layer 1 · Visibility</a:t>
            </a:r>
            <a:endParaRPr lang="en-US" sz="1700" dirty="0"/>
          </a:p>
        </p:txBody>
      </p:sp>
      <p:sp>
        <p:nvSpPr>
          <p:cNvPr id="8" name="Text 5"/>
          <p:cNvSpPr txBox="1"/>
          <p:nvPr/>
        </p:nvSpPr>
        <p:spPr>
          <a:xfrm>
            <a:off x="914400" y="2084832"/>
            <a:ext cx="4709160" cy="731520"/>
          </a:xfrm>
          <a:prstGeom prst="rect">
            <a:avLst/>
          </a:prstGeom>
          <a:noFill/>
          <a:ln/>
        </p:spPr>
        <p:txBody>
          <a:bodyPr wrap="square" lIns="0" tIns="0" rIns="0" bIns="0" rtlCol="0" anchor="ctr"/>
          <a:lstStyle/>
          <a:p>
            <a:pPr indent="0" marL="0">
              <a:lnSpc>
                <a:spcPts val="2200"/>
              </a:lnSpc>
              <a:buNone/>
            </a:pPr>
            <a:r>
              <a:rPr lang="en-US" sz="1400" dirty="0">
                <a:solidFill>
                  <a:srgbClr val="E6EDF3"/>
                </a:solidFill>
                <a:latin typeface="Courier New" pitchFamily="34" charset="0"/>
                <a:ea typeface="Courier New" pitchFamily="34" charset="-122"/>
                <a:cs typeface="Courier New" pitchFamily="34" charset="-120"/>
              </a:rPr>
              <a:t>--available-tools</a:t>
            </a:r>
            <a:endParaRPr lang="en-US" sz="1400" dirty="0"/>
          </a:p>
          <a:p>
            <a:pPr indent="0" marL="0">
              <a:lnSpc>
                <a:spcPts val="2200"/>
              </a:lnSpc>
              <a:buNone/>
            </a:pPr>
            <a:r>
              <a:rPr lang="en-US" sz="1400" dirty="0">
                <a:solidFill>
                  <a:srgbClr val="E6EDF3"/>
                </a:solidFill>
                <a:latin typeface="Courier New" pitchFamily="34" charset="0"/>
                <a:ea typeface="Courier New" pitchFamily="34" charset="-122"/>
                <a:cs typeface="Courier New" pitchFamily="34" charset="-120"/>
              </a:rPr>
              <a:t>--excluded-tools</a:t>
            </a:r>
            <a:endParaRPr lang="en-US" sz="1400" dirty="0"/>
          </a:p>
        </p:txBody>
      </p:sp>
      <p:sp>
        <p:nvSpPr>
          <p:cNvPr id="9" name="Text 6"/>
          <p:cNvSpPr txBox="1"/>
          <p:nvPr/>
        </p:nvSpPr>
        <p:spPr>
          <a:xfrm>
            <a:off x="914400" y="2926080"/>
            <a:ext cx="4709160" cy="1280160"/>
          </a:xfrm>
          <a:prstGeom prst="rect">
            <a:avLst/>
          </a:prstGeom>
          <a:noFill/>
          <a:ln/>
        </p:spPr>
        <p:txBody>
          <a:bodyPr wrap="square" lIns="0" tIns="0" rIns="0" bIns="0" rtlCol="0" anchor="ctr"/>
          <a:lstStyle/>
          <a:p>
            <a:pPr indent="0" marL="0">
              <a:lnSpc>
                <a:spcPts val="2000"/>
              </a:lnSpc>
              <a:buNone/>
            </a:pPr>
            <a:r>
              <a:rPr lang="en-US" sz="1350" dirty="0">
                <a:solidFill>
                  <a:srgbClr val="8B949E"/>
                </a:solidFill>
                <a:latin typeface="Calibri" pitchFamily="34" charset="0"/>
                <a:ea typeface="Calibri" pitchFamily="34" charset="-122"/>
                <a:cs typeface="Calibri" pitchFamily="34" charset="-120"/>
              </a:rPr>
              <a:t>Changes what the model knows exists.</a:t>
            </a:r>
            <a:endParaRPr lang="en-US" sz="1350" dirty="0"/>
          </a:p>
          <a:p>
            <a:pPr indent="0" marL="0">
              <a:lnSpc>
                <a:spcPts val="2000"/>
              </a:lnSpc>
              <a:buNone/>
            </a:pPr>
            <a:r>
              <a:rPr lang="en-US" sz="1350" dirty="0">
                <a:solidFill>
                  <a:srgbClr val="8B949E"/>
                </a:solidFill>
                <a:latin typeface="Calibri" pitchFamily="34" charset="0"/>
                <a:ea typeface="Calibri" pitchFamily="34" charset="-122"/>
                <a:cs typeface="Calibri" pitchFamily="34" charset="-120"/>
              </a:rPr>
              <a:t>Outside the available set, a tool cannot</a:t>
            </a:r>
            <a:endParaRPr lang="en-US" sz="1350" dirty="0"/>
          </a:p>
          <a:p>
            <a:pPr indent="0" marL="0">
              <a:lnSpc>
                <a:spcPts val="2000"/>
              </a:lnSpc>
              <a:buNone/>
            </a:pPr>
            <a:r>
              <a:rPr lang="en-US" sz="1350" dirty="0">
                <a:solidFill>
                  <a:srgbClr val="8B949E"/>
                </a:solidFill>
                <a:latin typeface="Calibri" pitchFamily="34" charset="0"/>
                <a:ea typeface="Calibri" pitchFamily="34" charset="-122"/>
                <a:cs typeface="Calibri" pitchFamily="34" charset="-120"/>
              </a:rPr>
              <a:t>be used — even if you also allow it.</a:t>
            </a:r>
            <a:endParaRPr lang="en-US" sz="1350" dirty="0"/>
          </a:p>
        </p:txBody>
      </p:sp>
      <p:sp>
        <p:nvSpPr>
          <p:cNvPr id="10" name="Shape 7"/>
          <p:cNvSpPr/>
          <p:nvPr/>
        </p:nvSpPr>
        <p:spPr>
          <a:xfrm>
            <a:off x="6217920" y="1417320"/>
            <a:ext cx="5349240" cy="3017520"/>
          </a:xfrm>
          <a:prstGeom prst="roundRect">
            <a:avLst>
              <a:gd name="adj" fmla="val 1515"/>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1" name="Text 8"/>
          <p:cNvSpPr txBox="1"/>
          <p:nvPr/>
        </p:nvSpPr>
        <p:spPr>
          <a:xfrm>
            <a:off x="6537960" y="1645920"/>
            <a:ext cx="4709160" cy="320040"/>
          </a:xfrm>
          <a:prstGeom prst="rect">
            <a:avLst/>
          </a:prstGeom>
          <a:noFill/>
          <a:ln/>
        </p:spPr>
        <p:txBody>
          <a:bodyPr wrap="square" lIns="0" tIns="0" rIns="0" bIns="0" rtlCol="0" anchor="ctr"/>
          <a:lstStyle/>
          <a:p>
            <a:pPr indent="0" marL="0">
              <a:buNone/>
            </a:pPr>
            <a:r>
              <a:rPr lang="en-US" sz="1700" b="1" dirty="0">
                <a:solidFill>
                  <a:srgbClr val="F0883E"/>
                </a:solidFill>
                <a:latin typeface="Arial" pitchFamily="34" charset="0"/>
                <a:ea typeface="Arial" pitchFamily="34" charset="-122"/>
                <a:cs typeface="Arial" pitchFamily="34" charset="-120"/>
              </a:rPr>
              <a:t>Layer 2 · Permission</a:t>
            </a:r>
            <a:endParaRPr lang="en-US" sz="1700" dirty="0"/>
          </a:p>
        </p:txBody>
      </p:sp>
      <p:sp>
        <p:nvSpPr>
          <p:cNvPr id="12" name="Text 9"/>
          <p:cNvSpPr txBox="1"/>
          <p:nvPr/>
        </p:nvSpPr>
        <p:spPr>
          <a:xfrm>
            <a:off x="6537960" y="2084832"/>
            <a:ext cx="4709160" cy="731520"/>
          </a:xfrm>
          <a:prstGeom prst="rect">
            <a:avLst/>
          </a:prstGeom>
          <a:noFill/>
          <a:ln/>
        </p:spPr>
        <p:txBody>
          <a:bodyPr wrap="square" lIns="0" tIns="0" rIns="0" bIns="0" rtlCol="0" anchor="ctr"/>
          <a:lstStyle/>
          <a:p>
            <a:pPr indent="0" marL="0">
              <a:lnSpc>
                <a:spcPts val="2200"/>
              </a:lnSpc>
              <a:buNone/>
            </a:pPr>
            <a:r>
              <a:rPr lang="en-US" sz="1400" dirty="0">
                <a:solidFill>
                  <a:srgbClr val="E6EDF3"/>
                </a:solidFill>
                <a:latin typeface="Courier New" pitchFamily="34" charset="0"/>
                <a:ea typeface="Courier New" pitchFamily="34" charset="-122"/>
                <a:cs typeface="Courier New" pitchFamily="34" charset="-120"/>
              </a:rPr>
              <a:t>--allow-tool</a:t>
            </a:r>
            <a:endParaRPr lang="en-US" sz="1400" dirty="0"/>
          </a:p>
          <a:p>
            <a:pPr indent="0" marL="0">
              <a:lnSpc>
                <a:spcPts val="2200"/>
              </a:lnSpc>
              <a:buNone/>
            </a:pPr>
            <a:r>
              <a:rPr lang="en-US" sz="1400" dirty="0">
                <a:solidFill>
                  <a:srgbClr val="E6EDF3"/>
                </a:solidFill>
                <a:latin typeface="Courier New" pitchFamily="34" charset="0"/>
                <a:ea typeface="Courier New" pitchFamily="34" charset="-122"/>
                <a:cs typeface="Courier New" pitchFamily="34" charset="-120"/>
              </a:rPr>
              <a:t>--deny-tool</a:t>
            </a:r>
            <a:endParaRPr lang="en-US" sz="1400" dirty="0"/>
          </a:p>
        </p:txBody>
      </p:sp>
      <p:sp>
        <p:nvSpPr>
          <p:cNvPr id="13" name="Text 10"/>
          <p:cNvSpPr txBox="1"/>
          <p:nvPr/>
        </p:nvSpPr>
        <p:spPr>
          <a:xfrm>
            <a:off x="6537960" y="2926080"/>
            <a:ext cx="4709160" cy="1280160"/>
          </a:xfrm>
          <a:prstGeom prst="rect">
            <a:avLst/>
          </a:prstGeom>
          <a:noFill/>
          <a:ln/>
        </p:spPr>
        <p:txBody>
          <a:bodyPr wrap="square" lIns="0" tIns="0" rIns="0" bIns="0" rtlCol="0" anchor="ctr"/>
          <a:lstStyle/>
          <a:p>
            <a:pPr indent="0" marL="0">
              <a:lnSpc>
                <a:spcPts val="2000"/>
              </a:lnSpc>
              <a:buNone/>
            </a:pPr>
            <a:r>
              <a:rPr lang="en-US" sz="1350" dirty="0">
                <a:solidFill>
                  <a:srgbClr val="8B949E"/>
                </a:solidFill>
                <a:latin typeface="Calibri" pitchFamily="34" charset="0"/>
                <a:ea typeface="Calibri" pitchFamily="34" charset="-122"/>
                <a:cs typeface="Calibri" pitchFamily="34" charset="-120"/>
              </a:rPr>
              <a:t>Changes whether you get an approval</a:t>
            </a:r>
            <a:endParaRPr lang="en-US" sz="1350" dirty="0"/>
          </a:p>
          <a:p>
            <a:pPr indent="0" marL="0">
              <a:lnSpc>
                <a:spcPts val="2000"/>
              </a:lnSpc>
              <a:buNone/>
            </a:pPr>
            <a:r>
              <a:rPr lang="en-US" sz="1350" dirty="0">
                <a:solidFill>
                  <a:srgbClr val="8B949E"/>
                </a:solidFill>
                <a:latin typeface="Calibri" pitchFamily="34" charset="0"/>
                <a:ea typeface="Calibri" pitchFamily="34" charset="-122"/>
                <a:cs typeface="Calibri" pitchFamily="34" charset="-120"/>
              </a:rPr>
              <a:t>prompt. Does not resurface a tool that</a:t>
            </a:r>
            <a:endParaRPr lang="en-US" sz="1350" dirty="0"/>
          </a:p>
          <a:p>
            <a:pPr indent="0" marL="0">
              <a:lnSpc>
                <a:spcPts val="2000"/>
              </a:lnSpc>
              <a:buNone/>
            </a:pPr>
            <a:r>
              <a:rPr lang="en-US" sz="1350" dirty="0">
                <a:solidFill>
                  <a:srgbClr val="8B949E"/>
                </a:solidFill>
                <a:latin typeface="Calibri" pitchFamily="34" charset="0"/>
                <a:ea typeface="Calibri" pitchFamily="34" charset="-122"/>
                <a:cs typeface="Calibri" pitchFamily="34" charset="-120"/>
              </a:rPr>
              <a:t>Layer 1 already hid.</a:t>
            </a:r>
            <a:endParaRPr lang="en-US" sz="1350" dirty="0"/>
          </a:p>
        </p:txBody>
      </p:sp>
      <p:sp>
        <p:nvSpPr>
          <p:cNvPr id="14" name="Shape 11"/>
          <p:cNvSpPr/>
          <p:nvPr/>
        </p:nvSpPr>
        <p:spPr>
          <a:xfrm>
            <a:off x="594360" y="4709160"/>
            <a:ext cx="10972800" cy="1097280"/>
          </a:xfrm>
          <a:prstGeom prst="roundRect">
            <a:avLst>
              <a:gd name="adj" fmla="val 4167"/>
            </a:avLst>
          </a:prstGeom>
          <a:solidFill>
            <a:srgbClr val="2B1D10"/>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5" name="Text 12"/>
          <p:cNvSpPr txBox="1"/>
          <p:nvPr/>
        </p:nvSpPr>
        <p:spPr>
          <a:xfrm>
            <a:off x="914400" y="4919472"/>
            <a:ext cx="10332720" cy="685800"/>
          </a:xfrm>
          <a:prstGeom prst="rect">
            <a:avLst/>
          </a:prstGeom>
          <a:noFill/>
          <a:ln/>
        </p:spPr>
        <p:txBody>
          <a:bodyPr wrap="square" lIns="0" tIns="0" rIns="0" bIns="0" rtlCol="0" anchor="ctr"/>
          <a:lstStyle/>
          <a:p>
            <a:pPr indent="0" marL="0">
              <a:lnSpc>
                <a:spcPts val="2200"/>
              </a:lnSpc>
              <a:buNone/>
            </a:pPr>
            <a:r>
              <a:rPr lang="en-US" sz="1500" b="1" dirty="0">
                <a:solidFill>
                  <a:srgbClr val="F0883E"/>
                </a:solidFill>
                <a:latin typeface="Calibri" pitchFamily="34" charset="0"/>
                <a:ea typeface="Calibri" pitchFamily="34" charset="-122"/>
                <a:cs typeface="Calibri" pitchFamily="34" charset="-120"/>
              </a:rPr>
              <a:t>Gotcha.  </a:t>
            </a:r>
            <a:pPr indent="0" marL="0">
              <a:lnSpc>
                <a:spcPts val="2200"/>
              </a:lnSpc>
              <a:buNone/>
            </a:pPr>
            <a:r>
              <a:rPr lang="en-US" sz="1500" dirty="0">
                <a:solidFill>
                  <a:srgbClr val="E6EDF3"/>
                </a:solidFill>
                <a:latin typeface="Calibri" pitchFamily="34" charset="0"/>
                <a:ea typeface="Calibri" pitchFamily="34" charset="-122"/>
                <a:cs typeface="Calibri" pitchFamily="34" charset="-120"/>
              </a:rPr>
              <a:t>Pass both and the allowlist wins — the denylist is silently ignored. No warning, no error. Pick one.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475488"/>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475488"/>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1051560" y="384048"/>
            <a:ext cx="10515600" cy="566928"/>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Deny always wins</a:t>
            </a:r>
            <a:endParaRPr lang="en-US" sz="3000" dirty="0"/>
          </a:p>
        </p:txBody>
      </p:sp>
      <p:sp>
        <p:nvSpPr>
          <p:cNvPr id="6" name="Text 3"/>
          <p:cNvSpPr txBox="1"/>
          <p:nvPr/>
        </p:nvSpPr>
        <p:spPr>
          <a:xfrm>
            <a:off x="594360" y="1463040"/>
            <a:ext cx="10515600" cy="822960"/>
          </a:xfrm>
          <a:prstGeom prst="rect">
            <a:avLst/>
          </a:prstGeom>
          <a:noFill/>
          <a:ln/>
        </p:spPr>
        <p:txBody>
          <a:bodyPr wrap="square" lIns="0" tIns="0" rIns="0" bIns="0" rtlCol="0" anchor="ctr"/>
          <a:lstStyle/>
          <a:p>
            <a:pPr indent="0" marL="0">
              <a:lnSpc>
                <a:spcPts val="3200"/>
              </a:lnSpc>
              <a:buNone/>
            </a:pPr>
            <a:r>
              <a:rPr lang="en-US" sz="2200" b="1" dirty="0">
                <a:solidFill>
                  <a:srgbClr val="E6EDF3"/>
                </a:solidFill>
                <a:latin typeface="Arial" pitchFamily="34" charset="0"/>
                <a:ea typeface="Arial" pitchFamily="34" charset="-122"/>
                <a:cs typeface="Arial" pitchFamily="34" charset="-120"/>
              </a:rPr>
              <a:t>--deny-tool beats --allow-tool, --allow-all, --yolo,</a:t>
            </a:r>
            <a:endParaRPr lang="en-US" sz="2200" dirty="0"/>
          </a:p>
          <a:p>
            <a:pPr indent="0" marL="0">
              <a:lnSpc>
                <a:spcPts val="3200"/>
              </a:lnSpc>
              <a:buNone/>
            </a:pPr>
            <a:r>
              <a:rPr lang="en-US" sz="2200" b="1" dirty="0">
                <a:solidFill>
                  <a:srgbClr val="E6EDF3"/>
                </a:solidFill>
                <a:latin typeface="Arial" pitchFamily="34" charset="0"/>
                <a:ea typeface="Arial" pitchFamily="34" charset="-122"/>
                <a:cs typeface="Arial" pitchFamily="34" charset="-120"/>
              </a:rPr>
              <a:t>and any approval you saved earlier.</a:t>
            </a:r>
            <a:endParaRPr lang="en-US" sz="2200" dirty="0"/>
          </a:p>
        </p:txBody>
      </p:sp>
      <p:sp>
        <p:nvSpPr>
          <p:cNvPr id="7" name="Shape 4"/>
          <p:cNvSpPr/>
          <p:nvPr/>
        </p:nvSpPr>
        <p:spPr>
          <a:xfrm>
            <a:off x="594360" y="2514600"/>
            <a:ext cx="10972800" cy="1828800"/>
          </a:xfrm>
          <a:prstGeom prst="roundRect">
            <a:avLst>
              <a:gd name="adj" fmla="val 2500"/>
            </a:avLst>
          </a:prstGeom>
          <a:solidFill>
            <a:srgbClr val="010409"/>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8" name="Text 5"/>
          <p:cNvSpPr txBox="1"/>
          <p:nvPr/>
        </p:nvSpPr>
        <p:spPr>
          <a:xfrm>
            <a:off x="832104" y="2697480"/>
            <a:ext cx="10515600" cy="1463040"/>
          </a:xfrm>
          <a:prstGeom prst="rect">
            <a:avLst/>
          </a:prstGeom>
          <a:noFill/>
          <a:ln/>
        </p:spPr>
        <p:txBody>
          <a:bodyPr wrap="square" lIns="0" tIns="0" rIns="0" bIns="0" rtlCol="0" anchor="t"/>
          <a:lstStyle/>
          <a:p>
            <a:pPr algn="l" indent="0" marL="0">
              <a:lnSpc>
                <a:spcPts val="2100"/>
              </a:lnSpc>
              <a:buNone/>
            </a:pPr>
            <a:r>
              <a:rPr lang="en-US" sz="1400" dirty="0">
                <a:solidFill>
                  <a:srgbClr val="8B949E"/>
                </a:solidFill>
                <a:latin typeface="Courier New" pitchFamily="34" charset="0"/>
                <a:ea typeface="Courier New" pitchFamily="34" charset="-122"/>
                <a:cs typeface="Courier New" pitchFamily="34" charset="-120"/>
              </a:rPr>
              <a:t># allow broadly for a bounded task, then deny the foot-guns</a:t>
            </a:r>
            <a:endParaRPr lang="en-US" sz="1400" dirty="0"/>
          </a:p>
          <a:p>
            <a:pPr algn="l" indent="0" marL="0">
              <a:lnSpc>
                <a:spcPts val="2100"/>
              </a:lnSpc>
              <a:buNone/>
            </a:pPr>
            <a:r>
              <a:rPr lang="en-US" sz="1400" dirty="0">
                <a:solidFill>
                  <a:srgbClr val="E6EDF3"/>
                </a:solidFill>
                <a:latin typeface="Courier New" pitchFamily="34" charset="0"/>
                <a:ea typeface="Courier New" pitchFamily="34" charset="-122"/>
                <a:cs typeface="Courier New" pitchFamily="34" charset="-120"/>
              </a:rPr>
              <a:t>copilot \</a:t>
            </a:r>
            <a:endParaRPr lang="en-US" sz="1400" dirty="0"/>
          </a:p>
          <a:p>
            <a:pPr algn="l" indent="0" marL="0">
              <a:lnSpc>
                <a:spcPts val="2100"/>
              </a:lnSpc>
              <a:buNone/>
            </a:pPr>
            <a:r>
              <a:rPr lang="en-US" sz="1400" dirty="0">
                <a:solidFill>
                  <a:srgbClr val="3FB950"/>
                </a:solidFill>
                <a:latin typeface="Courier New" pitchFamily="34" charset="0"/>
                <a:ea typeface="Courier New" pitchFamily="34" charset="-122"/>
                <a:cs typeface="Courier New" pitchFamily="34" charset="-120"/>
              </a:rPr>
              <a:t>  --allow-tool='shell(git:*)' \</a:t>
            </a:r>
            <a:endParaRPr lang="en-US" sz="1400" dirty="0"/>
          </a:p>
          <a:p>
            <a:pPr algn="l" indent="0" marL="0">
              <a:lnSpc>
                <a:spcPts val="2100"/>
              </a:lnSpc>
              <a:buNone/>
            </a:pPr>
            <a:r>
              <a:rPr lang="en-US" sz="1400" dirty="0">
                <a:solidFill>
                  <a:srgbClr val="F85149"/>
                </a:solidFill>
                <a:latin typeface="Courier New" pitchFamily="34" charset="0"/>
                <a:ea typeface="Courier New" pitchFamily="34" charset="-122"/>
                <a:cs typeface="Courier New" pitchFamily="34" charset="-120"/>
              </a:rPr>
              <a:t>  --deny-tool='shell(git push)'</a:t>
            </a:r>
            <a:endParaRPr lang="en-US" sz="1400" dirty="0"/>
          </a:p>
        </p:txBody>
      </p:sp>
      <p:sp>
        <p:nvSpPr>
          <p:cNvPr id="9" name="Shape 6"/>
          <p:cNvSpPr/>
          <p:nvPr/>
        </p:nvSpPr>
        <p:spPr>
          <a:xfrm>
            <a:off x="594360" y="4617720"/>
            <a:ext cx="10972800" cy="1051560"/>
          </a:xfrm>
          <a:prstGeom prst="roundRect">
            <a:avLst>
              <a:gd name="adj" fmla="val 4348"/>
            </a:avLst>
          </a:prstGeom>
          <a:solidFill>
            <a:srgbClr val="1C2128"/>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0" name="Text 7"/>
          <p:cNvSpPr txBox="1"/>
          <p:nvPr/>
        </p:nvSpPr>
        <p:spPr>
          <a:xfrm>
            <a:off x="914400" y="4828032"/>
            <a:ext cx="10332720" cy="640080"/>
          </a:xfrm>
          <a:prstGeom prst="rect">
            <a:avLst/>
          </a:prstGeom>
          <a:noFill/>
          <a:ln/>
        </p:spPr>
        <p:txBody>
          <a:bodyPr wrap="square" lIns="0" tIns="0" rIns="0" bIns="0" rtlCol="0" anchor="ctr"/>
          <a:lstStyle/>
          <a:p>
            <a:pPr indent="0" marL="0">
              <a:lnSpc>
                <a:spcPts val="2100"/>
              </a:lnSpc>
              <a:buNone/>
            </a:pPr>
            <a:r>
              <a:rPr lang="en-US" sz="1450" b="1" dirty="0">
                <a:solidFill>
                  <a:srgbClr val="58A6FF"/>
                </a:solidFill>
                <a:latin typeface="Courier New" pitchFamily="34" charset="0"/>
                <a:ea typeface="Courier New" pitchFamily="34" charset="-122"/>
                <a:cs typeface="Courier New" pitchFamily="34" charset="-120"/>
              </a:rPr>
              <a:t>/reset-allowed-tools  </a:t>
            </a:r>
            <a:pPr indent="0" marL="0">
              <a:lnSpc>
                <a:spcPts val="2100"/>
              </a:lnSpc>
              <a:buNone/>
            </a:pPr>
            <a:r>
              <a:rPr lang="en-US" sz="1450" dirty="0">
                <a:solidFill>
                  <a:srgbClr val="E6EDF3"/>
                </a:solidFill>
                <a:latin typeface="Calibri" pitchFamily="34" charset="0"/>
                <a:ea typeface="Calibri" pitchFamily="34" charset="-122"/>
                <a:cs typeface="Calibri" pitchFamily="34" charset="-120"/>
              </a:rPr>
              <a:t>revokes session grants and clears saved approvals for this location.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1828800"/>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1828800"/>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594360" y="2286000"/>
            <a:ext cx="10972800" cy="502920"/>
          </a:xfrm>
          <a:prstGeom prst="rect">
            <a:avLst/>
          </a:prstGeom>
          <a:noFill/>
          <a:ln/>
        </p:spPr>
        <p:txBody>
          <a:bodyPr wrap="square" lIns="0" tIns="0" rIns="0" bIns="0" rtlCol="0" anchor="ctr"/>
          <a:lstStyle/>
          <a:p>
            <a:pPr indent="0" marL="0">
              <a:buNone/>
            </a:pPr>
            <a:r>
              <a:rPr lang="en-US" sz="1900" dirty="0">
                <a:solidFill>
                  <a:srgbClr val="8B949E"/>
                </a:solidFill>
                <a:latin typeface="Calibri" pitchFamily="34" charset="0"/>
                <a:ea typeface="Calibri" pitchFamily="34" charset="-122"/>
                <a:cs typeface="Calibri" pitchFamily="34" charset="-120"/>
              </a:rPr>
              <a:t>Demo 1</a:t>
            </a:r>
            <a:endParaRPr lang="en-US" sz="1900" dirty="0"/>
          </a:p>
        </p:txBody>
      </p:sp>
      <p:sp>
        <p:nvSpPr>
          <p:cNvPr id="6" name="Text 3"/>
          <p:cNvSpPr txBox="1"/>
          <p:nvPr/>
        </p:nvSpPr>
        <p:spPr>
          <a:xfrm>
            <a:off x="594360" y="2743200"/>
            <a:ext cx="10972800" cy="914400"/>
          </a:xfrm>
          <a:prstGeom prst="rect">
            <a:avLst/>
          </a:prstGeom>
          <a:noFill/>
          <a:ln/>
        </p:spPr>
        <p:txBody>
          <a:bodyPr wrap="square" lIns="0" tIns="0" rIns="0" bIns="0" rtlCol="0" anchor="ctr"/>
          <a:lstStyle/>
          <a:p>
            <a:pPr indent="0" marL="0">
              <a:buNone/>
            </a:pPr>
            <a:r>
              <a:rPr lang="en-US" sz="5400" b="1" dirty="0">
                <a:solidFill>
                  <a:srgbClr val="E6EDF3"/>
                </a:solidFill>
                <a:latin typeface="Arial" pitchFamily="34" charset="0"/>
                <a:ea typeface="Arial" pitchFamily="34" charset="-122"/>
                <a:cs typeface="Arial" pitchFamily="34" charset="-120"/>
              </a:rPr>
              <a:t>Read</a:t>
            </a:r>
            <a:endParaRPr lang="en-US" sz="5400" dirty="0"/>
          </a:p>
        </p:txBody>
      </p:sp>
      <p:sp>
        <p:nvSpPr>
          <p:cNvPr id="7" name="Text 4"/>
          <p:cNvSpPr txBox="1"/>
          <p:nvPr/>
        </p:nvSpPr>
        <p:spPr>
          <a:xfrm>
            <a:off x="594360" y="3794760"/>
            <a:ext cx="10972800" cy="457200"/>
          </a:xfrm>
          <a:prstGeom prst="rect">
            <a:avLst/>
          </a:prstGeom>
          <a:noFill/>
          <a:ln/>
        </p:spPr>
        <p:txBody>
          <a:bodyPr wrap="square" lIns="0" tIns="0" rIns="0" bIns="0" rtlCol="0" anchor="ctr"/>
          <a:lstStyle/>
          <a:p>
            <a:pPr indent="0" marL="0">
              <a:buNone/>
            </a:pPr>
            <a:r>
              <a:rPr lang="en-US" sz="1900" dirty="0">
                <a:solidFill>
                  <a:srgbClr val="F0883E"/>
                </a:solidFill>
                <a:latin typeface="Courier New" pitchFamily="34" charset="0"/>
                <a:ea typeface="Courier New" pitchFamily="34" charset="-122"/>
                <a:cs typeface="Courier New" pitchFamily="34" charset="-120"/>
              </a:rPr>
              <a:t>"The last CI run failed. Why?"</a:t>
            </a:r>
            <a:endParaRPr lang="en-US" sz="1900" dirty="0"/>
          </a:p>
        </p:txBody>
      </p:sp>
      <p:sp>
        <p:nvSpPr>
          <p:cNvPr id="8" name="Shape 5"/>
          <p:cNvSpPr/>
          <p:nvPr/>
        </p:nvSpPr>
        <p:spPr>
          <a:xfrm>
            <a:off x="594360" y="4572000"/>
            <a:ext cx="1051560" cy="274320"/>
          </a:xfrm>
          <a:prstGeom prst="roundRect">
            <a:avLst>
              <a:gd name="adj" fmla="val 20000"/>
            </a:avLst>
          </a:prstGeom>
          <a:solidFill>
            <a:srgbClr val="1C2128"/>
          </a:solidFill>
          <a:ln w="12700">
            <a:solidFill>
              <a:srgbClr val="F85149"/>
            </a:solidFill>
            <a:prstDash val="solid"/>
          </a:ln>
        </p:spPr>
      </p:sp>
      <p:sp>
        <p:nvSpPr>
          <p:cNvPr id="9" name="Text 6"/>
          <p:cNvSpPr txBox="1"/>
          <p:nvPr/>
        </p:nvSpPr>
        <p:spPr>
          <a:xfrm>
            <a:off x="594360" y="4572000"/>
            <a:ext cx="1051560" cy="274320"/>
          </a:xfrm>
          <a:prstGeom prst="rect">
            <a:avLst/>
          </a:prstGeom>
          <a:noFill/>
          <a:ln/>
        </p:spPr>
        <p:txBody>
          <a:bodyPr wrap="square" lIns="0" tIns="0" rIns="0" bIns="0" rtlCol="0" anchor="ctr"/>
          <a:lstStyle/>
          <a:p>
            <a:pPr algn="ctr" indent="0" marL="0">
              <a:buNone/>
            </a:pPr>
            <a:r>
              <a:rPr lang="en-US" sz="1000" b="1" dirty="0">
                <a:solidFill>
                  <a:srgbClr val="F85149"/>
                </a:solidFill>
                <a:latin typeface="Calibri" pitchFamily="34" charset="0"/>
                <a:ea typeface="Calibri" pitchFamily="34" charset="-122"/>
                <a:cs typeface="Calibri" pitchFamily="34" charset="-120"/>
              </a:rPr>
              <a:t>no writes</a:t>
            </a:r>
            <a:endParaRPr lang="en-US" sz="1000" dirty="0"/>
          </a:p>
        </p:txBody>
      </p:sp>
      <p:sp>
        <p:nvSpPr>
          <p:cNvPr id="10" name="Shape 7"/>
          <p:cNvSpPr/>
          <p:nvPr/>
        </p:nvSpPr>
        <p:spPr>
          <a:xfrm>
            <a:off x="1783080" y="4572000"/>
            <a:ext cx="1051560" cy="274320"/>
          </a:xfrm>
          <a:prstGeom prst="roundRect">
            <a:avLst>
              <a:gd name="adj" fmla="val 20000"/>
            </a:avLst>
          </a:prstGeom>
          <a:solidFill>
            <a:srgbClr val="1C2128"/>
          </a:solidFill>
          <a:ln w="12700">
            <a:solidFill>
              <a:srgbClr val="F85149"/>
            </a:solidFill>
            <a:prstDash val="solid"/>
          </a:ln>
        </p:spPr>
      </p:sp>
      <p:sp>
        <p:nvSpPr>
          <p:cNvPr id="11" name="Text 8"/>
          <p:cNvSpPr txBox="1"/>
          <p:nvPr/>
        </p:nvSpPr>
        <p:spPr>
          <a:xfrm>
            <a:off x="1783080" y="4572000"/>
            <a:ext cx="1051560" cy="274320"/>
          </a:xfrm>
          <a:prstGeom prst="rect">
            <a:avLst/>
          </a:prstGeom>
          <a:noFill/>
          <a:ln/>
        </p:spPr>
        <p:txBody>
          <a:bodyPr wrap="square" lIns="0" tIns="0" rIns="0" bIns="0" rtlCol="0" anchor="ctr"/>
          <a:lstStyle/>
          <a:p>
            <a:pPr algn="ctr" indent="0" marL="0">
              <a:buNone/>
            </a:pPr>
            <a:r>
              <a:rPr lang="en-US" sz="1000" b="1" dirty="0">
                <a:solidFill>
                  <a:srgbClr val="F85149"/>
                </a:solidFill>
                <a:latin typeface="Calibri" pitchFamily="34" charset="0"/>
                <a:ea typeface="Calibri" pitchFamily="34" charset="-122"/>
                <a:cs typeface="Calibri" pitchFamily="34" charset="-120"/>
              </a:rPr>
              <a:t>no network</a:t>
            </a:r>
            <a:endParaRPr lang="en-US" sz="1000" dirty="0"/>
          </a:p>
        </p:txBody>
      </p:sp>
      <p:sp>
        <p:nvSpPr>
          <p:cNvPr id="12" name="Shape 9"/>
          <p:cNvSpPr/>
          <p:nvPr/>
        </p:nvSpPr>
        <p:spPr>
          <a:xfrm>
            <a:off x="2971800" y="4572000"/>
            <a:ext cx="1051560" cy="274320"/>
          </a:xfrm>
          <a:prstGeom prst="roundRect">
            <a:avLst>
              <a:gd name="adj" fmla="val 20000"/>
            </a:avLst>
          </a:prstGeom>
          <a:solidFill>
            <a:srgbClr val="1C2128"/>
          </a:solidFill>
          <a:ln w="12700">
            <a:solidFill>
              <a:srgbClr val="F85149"/>
            </a:solidFill>
            <a:prstDash val="solid"/>
          </a:ln>
        </p:spPr>
      </p:sp>
      <p:sp>
        <p:nvSpPr>
          <p:cNvPr id="13" name="Text 10"/>
          <p:cNvSpPr txBox="1"/>
          <p:nvPr/>
        </p:nvSpPr>
        <p:spPr>
          <a:xfrm>
            <a:off x="2971800" y="4572000"/>
            <a:ext cx="1051560" cy="274320"/>
          </a:xfrm>
          <a:prstGeom prst="rect">
            <a:avLst/>
          </a:prstGeom>
          <a:noFill/>
          <a:ln/>
        </p:spPr>
        <p:txBody>
          <a:bodyPr wrap="square" lIns="0" tIns="0" rIns="0" bIns="0" rtlCol="0" anchor="ctr"/>
          <a:lstStyle/>
          <a:p>
            <a:pPr algn="ctr" indent="0" marL="0">
              <a:buNone/>
            </a:pPr>
            <a:r>
              <a:rPr lang="en-US" sz="1000" b="1" dirty="0">
                <a:solidFill>
                  <a:srgbClr val="F85149"/>
                </a:solidFill>
                <a:latin typeface="Calibri" pitchFamily="34" charset="0"/>
                <a:ea typeface="Calibri" pitchFamily="34" charset="-122"/>
                <a:cs typeface="Calibri" pitchFamily="34" charset="-120"/>
              </a:rPr>
              <a:t>no cloud</a:t>
            </a:r>
            <a:endParaRPr lang="en-US" sz="1000" dirty="0"/>
          </a:p>
        </p:txBody>
      </p:sp>
      <p:sp>
        <p:nvSpPr>
          <p:cNvPr id="14" name="Shape 11"/>
          <p:cNvSpPr/>
          <p:nvPr/>
        </p:nvSpPr>
        <p:spPr>
          <a:xfrm>
            <a:off x="4160520" y="4572000"/>
            <a:ext cx="1051560" cy="274320"/>
          </a:xfrm>
          <a:prstGeom prst="roundRect">
            <a:avLst>
              <a:gd name="adj" fmla="val 20000"/>
            </a:avLst>
          </a:prstGeom>
          <a:solidFill>
            <a:srgbClr val="1C2128"/>
          </a:solidFill>
          <a:ln w="12700">
            <a:solidFill>
              <a:srgbClr val="3FB950"/>
            </a:solidFill>
            <a:prstDash val="solid"/>
          </a:ln>
        </p:spPr>
      </p:sp>
      <p:sp>
        <p:nvSpPr>
          <p:cNvPr id="15" name="Text 12"/>
          <p:cNvSpPr txBox="1"/>
          <p:nvPr/>
        </p:nvSpPr>
        <p:spPr>
          <a:xfrm>
            <a:off x="4160520" y="4572000"/>
            <a:ext cx="1051560" cy="274320"/>
          </a:xfrm>
          <a:prstGeom prst="rect">
            <a:avLst/>
          </a:prstGeom>
          <a:noFill/>
          <a:ln/>
        </p:spPr>
        <p:txBody>
          <a:bodyPr wrap="square" lIns="0" tIns="0" rIns="0" bIns="0" rtlCol="0" anchor="ctr"/>
          <a:lstStyle/>
          <a:p>
            <a:pPr algn="ctr" indent="0" marL="0">
              <a:buNone/>
            </a:pPr>
            <a:r>
              <a:rPr lang="en-US" sz="1000" b="1" dirty="0">
                <a:solidFill>
                  <a:srgbClr val="3FB950"/>
                </a:solidFill>
                <a:latin typeface="Calibri" pitchFamily="34" charset="0"/>
                <a:ea typeface="Calibri" pitchFamily="34" charset="-122"/>
                <a:cs typeface="Calibri" pitchFamily="34" charset="-120"/>
              </a:rPr>
              <a:t>reads only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1828800"/>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1828800"/>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594360" y="2286000"/>
            <a:ext cx="10972800" cy="502920"/>
          </a:xfrm>
          <a:prstGeom prst="rect">
            <a:avLst/>
          </a:prstGeom>
          <a:noFill/>
          <a:ln/>
        </p:spPr>
        <p:txBody>
          <a:bodyPr wrap="square" lIns="0" tIns="0" rIns="0" bIns="0" rtlCol="0" anchor="ctr"/>
          <a:lstStyle/>
          <a:p>
            <a:pPr indent="0" marL="0">
              <a:buNone/>
            </a:pPr>
            <a:r>
              <a:rPr lang="en-US" sz="1900" dirty="0">
                <a:solidFill>
                  <a:srgbClr val="8B949E"/>
                </a:solidFill>
                <a:latin typeface="Calibri" pitchFamily="34" charset="0"/>
                <a:ea typeface="Calibri" pitchFamily="34" charset="-122"/>
                <a:cs typeface="Calibri" pitchFamily="34" charset="-120"/>
              </a:rPr>
              <a:t>Demo 2</a:t>
            </a:r>
            <a:endParaRPr lang="en-US" sz="1900" dirty="0"/>
          </a:p>
        </p:txBody>
      </p:sp>
      <p:sp>
        <p:nvSpPr>
          <p:cNvPr id="6" name="Text 3"/>
          <p:cNvSpPr txBox="1"/>
          <p:nvPr/>
        </p:nvSpPr>
        <p:spPr>
          <a:xfrm>
            <a:off x="594360" y="2743200"/>
            <a:ext cx="10972800" cy="914400"/>
          </a:xfrm>
          <a:prstGeom prst="rect">
            <a:avLst/>
          </a:prstGeom>
          <a:noFill/>
          <a:ln/>
        </p:spPr>
        <p:txBody>
          <a:bodyPr wrap="square" lIns="0" tIns="0" rIns="0" bIns="0" rtlCol="0" anchor="ctr"/>
          <a:lstStyle/>
          <a:p>
            <a:pPr indent="0" marL="0">
              <a:buNone/>
            </a:pPr>
            <a:r>
              <a:rPr lang="en-US" sz="5400" b="1" dirty="0">
                <a:solidFill>
                  <a:srgbClr val="E6EDF3"/>
                </a:solidFill>
                <a:latin typeface="Arial" pitchFamily="34" charset="0"/>
                <a:ea typeface="Arial" pitchFamily="34" charset="-122"/>
                <a:cs typeface="Arial" pitchFamily="34" charset="-120"/>
              </a:rPr>
              <a:t>Write</a:t>
            </a:r>
            <a:endParaRPr lang="en-US" sz="5400" dirty="0"/>
          </a:p>
        </p:txBody>
      </p:sp>
      <p:sp>
        <p:nvSpPr>
          <p:cNvPr id="7" name="Text 4"/>
          <p:cNvSpPr txBox="1"/>
          <p:nvPr/>
        </p:nvSpPr>
        <p:spPr>
          <a:xfrm>
            <a:off x="594360" y="3794760"/>
            <a:ext cx="10972800" cy="457200"/>
          </a:xfrm>
          <a:prstGeom prst="rect">
            <a:avLst/>
          </a:prstGeom>
          <a:noFill/>
          <a:ln/>
        </p:spPr>
        <p:txBody>
          <a:bodyPr wrap="square" lIns="0" tIns="0" rIns="0" bIns="0" rtlCol="0" anchor="ctr"/>
          <a:lstStyle/>
          <a:p>
            <a:pPr indent="0" marL="0">
              <a:buNone/>
            </a:pPr>
            <a:r>
              <a:rPr lang="en-US" sz="1900" dirty="0">
                <a:solidFill>
                  <a:srgbClr val="F0883E"/>
                </a:solidFill>
                <a:latin typeface="Courier New" pitchFamily="34" charset="0"/>
                <a:ea typeface="Courier New" pitchFamily="34" charset="-122"/>
                <a:cs typeface="Courier New" pitchFamily="34" charset="-120"/>
              </a:rPr>
              <a:t>"This bucket isn’t hardened. Fix it."</a:t>
            </a:r>
            <a:endParaRPr lang="en-US" sz="1900" dirty="0"/>
          </a:p>
        </p:txBody>
      </p:sp>
      <p:sp>
        <p:nvSpPr>
          <p:cNvPr id="8" name="Text 5"/>
          <p:cNvSpPr txBox="1"/>
          <p:nvPr/>
        </p:nvSpPr>
        <p:spPr>
          <a:xfrm>
            <a:off x="594360" y="4617720"/>
            <a:ext cx="10972800" cy="365760"/>
          </a:xfrm>
          <a:prstGeom prst="rect">
            <a:avLst/>
          </a:prstGeom>
          <a:noFill/>
          <a:ln/>
        </p:spPr>
        <p:txBody>
          <a:bodyPr wrap="square" lIns="0" tIns="0" rIns="0" bIns="0" rtlCol="0" anchor="ctr"/>
          <a:lstStyle/>
          <a:p>
            <a:pPr indent="0" marL="0">
              <a:buNone/>
            </a:pPr>
            <a:r>
              <a:rPr lang="en-US" sz="1600" dirty="0">
                <a:solidFill>
                  <a:srgbClr val="3FB950"/>
                </a:solidFill>
                <a:latin typeface="Calibri" pitchFamily="34" charset="0"/>
                <a:ea typeface="Calibri" pitchFamily="34" charset="-122"/>
                <a:cs typeface="Calibri" pitchFamily="34" charset="-120"/>
              </a:rPr>
              <a:t>Output is a diff on a branch. Not an apply.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1828800"/>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1828800"/>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594360" y="2286000"/>
            <a:ext cx="10972800" cy="502920"/>
          </a:xfrm>
          <a:prstGeom prst="rect">
            <a:avLst/>
          </a:prstGeom>
          <a:noFill/>
          <a:ln/>
        </p:spPr>
        <p:txBody>
          <a:bodyPr wrap="square" lIns="0" tIns="0" rIns="0" bIns="0" rtlCol="0" anchor="ctr"/>
          <a:lstStyle/>
          <a:p>
            <a:pPr indent="0" marL="0">
              <a:buNone/>
            </a:pPr>
            <a:r>
              <a:rPr lang="en-US" sz="1900" dirty="0">
                <a:solidFill>
                  <a:srgbClr val="8B949E"/>
                </a:solidFill>
                <a:latin typeface="Calibri" pitchFamily="34" charset="0"/>
                <a:ea typeface="Calibri" pitchFamily="34" charset="-122"/>
                <a:cs typeface="Calibri" pitchFamily="34" charset="-120"/>
              </a:rPr>
              <a:t>Demo 3</a:t>
            </a:r>
            <a:endParaRPr lang="en-US" sz="1900" dirty="0"/>
          </a:p>
        </p:txBody>
      </p:sp>
      <p:sp>
        <p:nvSpPr>
          <p:cNvPr id="6" name="Text 3"/>
          <p:cNvSpPr txBox="1"/>
          <p:nvPr/>
        </p:nvSpPr>
        <p:spPr>
          <a:xfrm>
            <a:off x="594360" y="2743200"/>
            <a:ext cx="10972800" cy="914400"/>
          </a:xfrm>
          <a:prstGeom prst="rect">
            <a:avLst/>
          </a:prstGeom>
          <a:noFill/>
          <a:ln/>
        </p:spPr>
        <p:txBody>
          <a:bodyPr wrap="square" lIns="0" tIns="0" rIns="0" bIns="0" rtlCol="0" anchor="ctr"/>
          <a:lstStyle/>
          <a:p>
            <a:pPr indent="0" marL="0">
              <a:buNone/>
            </a:pPr>
            <a:r>
              <a:rPr lang="en-US" sz="5400" b="1" dirty="0">
                <a:solidFill>
                  <a:srgbClr val="F0883E"/>
                </a:solidFill>
                <a:latin typeface="Arial" pitchFamily="34" charset="0"/>
                <a:ea typeface="Arial" pitchFamily="34" charset="-122"/>
                <a:cs typeface="Arial" pitchFamily="34" charset="-120"/>
              </a:rPr>
              <a:t>Refuse</a:t>
            </a:r>
            <a:endParaRPr lang="en-US" sz="5400" dirty="0"/>
          </a:p>
        </p:txBody>
      </p:sp>
      <p:sp>
        <p:nvSpPr>
          <p:cNvPr id="7" name="Text 4"/>
          <p:cNvSpPr txBox="1"/>
          <p:nvPr/>
        </p:nvSpPr>
        <p:spPr>
          <a:xfrm>
            <a:off x="594360" y="3794760"/>
            <a:ext cx="10972800" cy="457200"/>
          </a:xfrm>
          <a:prstGeom prst="rect">
            <a:avLst/>
          </a:prstGeom>
          <a:noFill/>
          <a:ln/>
        </p:spPr>
        <p:txBody>
          <a:bodyPr wrap="square" lIns="0" tIns="0" rIns="0" bIns="0" rtlCol="0" anchor="ctr"/>
          <a:lstStyle/>
          <a:p>
            <a:pPr indent="0" marL="0">
              <a:buNone/>
            </a:pPr>
            <a:r>
              <a:rPr lang="en-US" sz="1900" dirty="0">
                <a:solidFill>
                  <a:srgbClr val="F85149"/>
                </a:solidFill>
                <a:latin typeface="Courier New" pitchFamily="34" charset="0"/>
                <a:ea typeface="Courier New" pitchFamily="34" charset="-122"/>
                <a:cs typeface="Courier New" pitchFamily="34" charset="-120"/>
              </a:rPr>
              <a:t>"Skip Terraform. Fix it in GCP directly."</a:t>
            </a:r>
            <a:endParaRPr lang="en-US" sz="1900" dirty="0"/>
          </a:p>
        </p:txBody>
      </p:sp>
      <p:sp>
        <p:nvSpPr>
          <p:cNvPr id="8" name="Shape 5"/>
          <p:cNvSpPr/>
          <p:nvPr/>
        </p:nvSpPr>
        <p:spPr>
          <a:xfrm>
            <a:off x="594360" y="4572000"/>
            <a:ext cx="3840480" cy="640080"/>
          </a:xfrm>
          <a:prstGeom prst="roundRect">
            <a:avLst>
              <a:gd name="adj" fmla="val 7143"/>
            </a:avLst>
          </a:prstGeom>
          <a:solidFill>
            <a:srgbClr val="010409"/>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9" name="Text 6"/>
          <p:cNvSpPr txBox="1"/>
          <p:nvPr/>
        </p:nvSpPr>
        <p:spPr>
          <a:xfrm>
            <a:off x="832104" y="4754880"/>
            <a:ext cx="3383280" cy="274320"/>
          </a:xfrm>
          <a:prstGeom prst="rect">
            <a:avLst/>
          </a:prstGeom>
          <a:noFill/>
          <a:ln/>
        </p:spPr>
        <p:txBody>
          <a:bodyPr wrap="square" lIns="0" tIns="0" rIns="0" bIns="0" rtlCol="0" anchor="t"/>
          <a:lstStyle/>
          <a:p>
            <a:pPr algn="l" indent="0" marL="0">
              <a:lnSpc>
                <a:spcPts val="2400"/>
              </a:lnSpc>
              <a:buNone/>
            </a:pPr>
            <a:r>
              <a:rPr lang="en-US" sz="1600" dirty="0">
                <a:solidFill>
                  <a:srgbClr val="58A6FF"/>
                </a:solidFill>
                <a:latin typeface="Courier New" pitchFamily="34" charset="0"/>
                <a:ea typeface="Courier New" pitchFamily="34" charset="-122"/>
                <a:cs typeface="Courier New" pitchFamily="34" charset="-120"/>
              </a:rPr>
              <a:t>/sandbox policy</a:t>
            </a:r>
            <a:endParaRPr lang="en-US" sz="1600" dirty="0"/>
          </a:p>
        </p:txBody>
      </p:sp>
      <p:sp>
        <p:nvSpPr>
          <p:cNvPr id="10" name="Text 7"/>
          <p:cNvSpPr txBox="1"/>
          <p:nvPr/>
        </p:nvSpPr>
        <p:spPr>
          <a:xfrm>
            <a:off x="4663440" y="4572000"/>
            <a:ext cx="4572000" cy="640080"/>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 put this on the projector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475488"/>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475488"/>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1051560" y="384048"/>
            <a:ext cx="10515600" cy="566928"/>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Nobody consented to cat</a:t>
            </a:r>
            <a:endParaRPr lang="en-US" sz="3000" dirty="0"/>
          </a:p>
        </p:txBody>
      </p:sp>
      <p:sp>
        <p:nvSpPr>
          <p:cNvPr id="6" name="Text 3"/>
          <p:cNvSpPr txBox="1"/>
          <p:nvPr/>
        </p:nvSpPr>
        <p:spPr>
          <a:xfrm>
            <a:off x="594360" y="1463040"/>
            <a:ext cx="10515600" cy="502920"/>
          </a:xfrm>
          <a:prstGeom prst="rect">
            <a:avLst/>
          </a:prstGeom>
          <a:noFill/>
          <a:ln/>
        </p:spPr>
        <p:txBody>
          <a:bodyPr wrap="square" lIns="0" tIns="0" rIns="0" bIns="0" rtlCol="0" anchor="ctr"/>
          <a:lstStyle/>
          <a:p>
            <a:pPr indent="0" marL="0">
              <a:buNone/>
            </a:pPr>
            <a:r>
              <a:rPr lang="en-US" sz="2500" b="1" dirty="0">
                <a:solidFill>
                  <a:srgbClr val="E6EDF3"/>
                </a:solidFill>
                <a:latin typeface="Arial" pitchFamily="34" charset="0"/>
                <a:ea typeface="Arial" pitchFamily="34" charset="-122"/>
                <a:cs typeface="Arial" pitchFamily="34" charset="-120"/>
              </a:rPr>
              <a:t>Read-only operations are auto-approved.</a:t>
            </a:r>
            <a:endParaRPr lang="en-US" sz="2500" dirty="0"/>
          </a:p>
        </p:txBody>
      </p:sp>
      <p:sp>
        <p:nvSpPr>
          <p:cNvPr id="7" name="Shape 4"/>
          <p:cNvSpPr/>
          <p:nvPr/>
        </p:nvSpPr>
        <p:spPr>
          <a:xfrm>
            <a:off x="594360" y="2194560"/>
            <a:ext cx="5349240" cy="1554480"/>
          </a:xfrm>
          <a:prstGeom prst="roundRect">
            <a:avLst>
              <a:gd name="adj" fmla="val 2941"/>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8" name="Text 5"/>
          <p:cNvSpPr txBox="1"/>
          <p:nvPr/>
        </p:nvSpPr>
        <p:spPr>
          <a:xfrm>
            <a:off x="914400" y="2395728"/>
            <a:ext cx="4709160" cy="320040"/>
          </a:xfrm>
          <a:prstGeom prst="rect">
            <a:avLst/>
          </a:prstGeom>
          <a:noFill/>
          <a:ln/>
        </p:spPr>
        <p:txBody>
          <a:bodyPr wrap="square" lIns="0" tIns="0" rIns="0" bIns="0" rtlCol="0" anchor="ctr"/>
          <a:lstStyle/>
          <a:p>
            <a:pPr indent="0" marL="0">
              <a:buNone/>
            </a:pPr>
            <a:r>
              <a:rPr lang="en-US" sz="1600" b="1" dirty="0">
                <a:solidFill>
                  <a:srgbClr val="F85149"/>
                </a:solidFill>
                <a:latin typeface="Arial" pitchFamily="34" charset="0"/>
                <a:ea typeface="Arial" pitchFamily="34" charset="-122"/>
                <a:cs typeface="Arial" pitchFamily="34" charset="-120"/>
              </a:rPr>
              <a:t>Prompts you</a:t>
            </a:r>
            <a:endParaRPr lang="en-US" sz="1600" dirty="0"/>
          </a:p>
        </p:txBody>
      </p:sp>
      <p:sp>
        <p:nvSpPr>
          <p:cNvPr id="9" name="Text 6"/>
          <p:cNvSpPr txBox="1"/>
          <p:nvPr/>
        </p:nvSpPr>
        <p:spPr>
          <a:xfrm>
            <a:off x="914400" y="2788920"/>
            <a:ext cx="4709160" cy="777240"/>
          </a:xfrm>
          <a:prstGeom prst="rect">
            <a:avLst/>
          </a:prstGeom>
          <a:noFill/>
          <a:ln/>
        </p:spPr>
        <p:txBody>
          <a:bodyPr wrap="square" lIns="0" tIns="0" rIns="0" bIns="0" rtlCol="0" anchor="ctr"/>
          <a:lstStyle/>
          <a:p>
            <a:pPr indent="0" marL="0">
              <a:lnSpc>
                <a:spcPts val="2100"/>
              </a:lnSpc>
              <a:buNone/>
            </a:pPr>
            <a:r>
              <a:rPr lang="en-US" sz="1350" dirty="0">
                <a:solidFill>
                  <a:srgbClr val="E6EDF3"/>
                </a:solidFill>
                <a:latin typeface="Courier New" pitchFamily="34" charset="0"/>
                <a:ea typeface="Courier New" pitchFamily="34" charset="-122"/>
                <a:cs typeface="Courier New" pitchFamily="34" charset="-120"/>
              </a:rPr>
              <a:t>writes  ·  destructive shell</a:t>
            </a:r>
            <a:endParaRPr lang="en-US" sz="1350" dirty="0"/>
          </a:p>
          <a:p>
            <a:pPr indent="0" marL="0">
              <a:lnSpc>
                <a:spcPts val="2100"/>
              </a:lnSpc>
              <a:buNone/>
            </a:pPr>
            <a:r>
              <a:rPr lang="en-US" sz="1350" dirty="0">
                <a:solidFill>
                  <a:srgbClr val="E6EDF3"/>
                </a:solidFill>
                <a:latin typeface="Courier New" pitchFamily="34" charset="0"/>
                <a:ea typeface="Courier New" pitchFamily="34" charset="-122"/>
                <a:cs typeface="Courier New" pitchFamily="34" charset="-120"/>
              </a:rPr>
              <a:t>URL access</a:t>
            </a:r>
            <a:endParaRPr lang="en-US" sz="1350" dirty="0"/>
          </a:p>
        </p:txBody>
      </p:sp>
      <p:sp>
        <p:nvSpPr>
          <p:cNvPr id="10" name="Shape 7"/>
          <p:cNvSpPr/>
          <p:nvPr/>
        </p:nvSpPr>
        <p:spPr>
          <a:xfrm>
            <a:off x="6217920" y="2194560"/>
            <a:ext cx="5349240" cy="1554480"/>
          </a:xfrm>
          <a:prstGeom prst="roundRect">
            <a:avLst>
              <a:gd name="adj" fmla="val 2941"/>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1" name="Text 8"/>
          <p:cNvSpPr txBox="1"/>
          <p:nvPr/>
        </p:nvSpPr>
        <p:spPr>
          <a:xfrm>
            <a:off x="6537960" y="2395728"/>
            <a:ext cx="4709160" cy="320040"/>
          </a:xfrm>
          <a:prstGeom prst="rect">
            <a:avLst/>
          </a:prstGeom>
          <a:noFill/>
          <a:ln/>
        </p:spPr>
        <p:txBody>
          <a:bodyPr wrap="square" lIns="0" tIns="0" rIns="0" bIns="0" rtlCol="0" anchor="ctr"/>
          <a:lstStyle/>
          <a:p>
            <a:pPr indent="0" marL="0">
              <a:buNone/>
            </a:pPr>
            <a:r>
              <a:rPr lang="en-US" sz="1600" b="1" dirty="0">
                <a:solidFill>
                  <a:srgbClr val="3FB950"/>
                </a:solidFill>
                <a:latin typeface="Arial" pitchFamily="34" charset="0"/>
                <a:ea typeface="Arial" pitchFamily="34" charset="-122"/>
                <a:cs typeface="Arial" pitchFamily="34" charset="-120"/>
              </a:rPr>
              <a:t>Never asks</a:t>
            </a:r>
            <a:endParaRPr lang="en-US" sz="1600" dirty="0"/>
          </a:p>
        </p:txBody>
      </p:sp>
      <p:sp>
        <p:nvSpPr>
          <p:cNvPr id="12" name="Text 9"/>
          <p:cNvSpPr txBox="1"/>
          <p:nvPr/>
        </p:nvSpPr>
        <p:spPr>
          <a:xfrm>
            <a:off x="6537960" y="2788920"/>
            <a:ext cx="4709160" cy="777240"/>
          </a:xfrm>
          <a:prstGeom prst="rect">
            <a:avLst/>
          </a:prstGeom>
          <a:noFill/>
          <a:ln/>
        </p:spPr>
        <p:txBody>
          <a:bodyPr wrap="square" lIns="0" tIns="0" rIns="0" bIns="0" rtlCol="0" anchor="ctr"/>
          <a:lstStyle/>
          <a:p>
            <a:pPr indent="0" marL="0">
              <a:lnSpc>
                <a:spcPts val="2100"/>
              </a:lnSpc>
              <a:buNone/>
            </a:pPr>
            <a:r>
              <a:rPr lang="en-US" sz="1350" dirty="0">
                <a:solidFill>
                  <a:srgbClr val="E6EDF3"/>
                </a:solidFill>
                <a:latin typeface="Courier New" pitchFamily="34" charset="0"/>
                <a:ea typeface="Courier New" pitchFamily="34" charset="-122"/>
                <a:cs typeface="Courier New" pitchFamily="34" charset="-120"/>
              </a:rPr>
              <a:t>read  ·  grep  ·  glob</a:t>
            </a:r>
            <a:endParaRPr lang="en-US" sz="1350" dirty="0"/>
          </a:p>
          <a:p>
            <a:pPr indent="0" marL="0">
              <a:lnSpc>
                <a:spcPts val="2100"/>
              </a:lnSpc>
              <a:buNone/>
            </a:pPr>
            <a:r>
              <a:rPr lang="en-US" sz="1350" dirty="0">
                <a:solidFill>
                  <a:srgbClr val="E6EDF3"/>
                </a:solidFill>
                <a:latin typeface="Courier New" pitchFamily="34" charset="0"/>
                <a:ea typeface="Courier New" pitchFamily="34" charset="-122"/>
                <a:cs typeface="Courier New" pitchFamily="34" charset="-120"/>
              </a:rPr>
              <a:t>read-only shell commands</a:t>
            </a:r>
            <a:endParaRPr lang="en-US" sz="1350" dirty="0"/>
          </a:p>
        </p:txBody>
      </p:sp>
      <p:sp>
        <p:nvSpPr>
          <p:cNvPr id="13" name="Shape 10"/>
          <p:cNvSpPr/>
          <p:nvPr/>
        </p:nvSpPr>
        <p:spPr>
          <a:xfrm>
            <a:off x="594360" y="4023360"/>
            <a:ext cx="10972800" cy="1417320"/>
          </a:xfrm>
          <a:prstGeom prst="roundRect">
            <a:avLst>
              <a:gd name="adj" fmla="val 3226"/>
            </a:avLst>
          </a:prstGeom>
          <a:solidFill>
            <a:srgbClr val="2B1D10"/>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4" name="Text 11"/>
          <p:cNvSpPr txBox="1"/>
          <p:nvPr/>
        </p:nvSpPr>
        <p:spPr>
          <a:xfrm>
            <a:off x="960120" y="4279392"/>
            <a:ext cx="10241280" cy="914400"/>
          </a:xfrm>
          <a:prstGeom prst="rect">
            <a:avLst/>
          </a:prstGeom>
          <a:noFill/>
          <a:ln/>
        </p:spPr>
        <p:txBody>
          <a:bodyPr wrap="square" lIns="0" tIns="0" rIns="0" bIns="0" rtlCol="0" anchor="ctr"/>
          <a:lstStyle/>
          <a:p>
            <a:pPr indent="0" marL="0">
              <a:lnSpc>
                <a:spcPts val="2900"/>
              </a:lnSpc>
              <a:buNone/>
            </a:pPr>
            <a:r>
              <a:rPr lang="en-US" sz="2000" b="1" dirty="0">
                <a:solidFill>
                  <a:srgbClr val="F0883E"/>
                </a:solidFill>
                <a:latin typeface="Arial" pitchFamily="34" charset="0"/>
                <a:ea typeface="Arial" pitchFamily="34" charset="-122"/>
                <a:cs typeface="Arial" pitchFamily="34" charset="-120"/>
              </a:rPr>
              <a:t>In a regulated codebase, reading is the risk.</a:t>
            </a:r>
            <a:endParaRPr lang="en-US" sz="2000" dirty="0"/>
          </a:p>
          <a:p>
            <a:pPr indent="0" marL="0">
              <a:lnSpc>
                <a:spcPts val="2900"/>
              </a:lnSpc>
              <a:buNone/>
            </a:pPr>
            <a:r>
              <a:rPr lang="en-US" sz="2000" b="1" dirty="0">
                <a:solidFill>
                  <a:srgbClr val="F0883E"/>
                </a:solidFill>
                <a:latin typeface="Arial" pitchFamily="34" charset="0"/>
                <a:ea typeface="Arial" pitchFamily="34" charset="-122"/>
                <a:cs typeface="Arial" pitchFamily="34" charset="-120"/>
              </a:rPr>
              <a:t>Exfiltration does not need write access.</a:t>
            </a:r>
            <a:endParaRPr lang="en-US" sz="2000" dirty="0"/>
          </a:p>
        </p:txBody>
      </p:sp>
      <p:sp>
        <p:nvSpPr>
          <p:cNvPr id="15" name="Text 12"/>
          <p:cNvSpPr txBox="1"/>
          <p:nvPr/>
        </p:nvSpPr>
        <p:spPr>
          <a:xfrm>
            <a:off x="594360" y="5623560"/>
            <a:ext cx="10972800" cy="320040"/>
          </a:xfrm>
          <a:prstGeom prst="rect">
            <a:avLst/>
          </a:prstGeom>
          <a:noFill/>
          <a:ln/>
        </p:spPr>
        <p:txBody>
          <a:bodyPr wrap="square" lIns="0" tIns="0" rIns="0" bIns="0" rtlCol="0" anchor="ctr"/>
          <a:lstStyle/>
          <a:p>
            <a:pPr indent="0" marL="0">
              <a:buNone/>
            </a:pPr>
            <a:r>
              <a:rPr lang="en-US" sz="1250" dirty="0">
                <a:solidFill>
                  <a:srgbClr val="8B949E"/>
                </a:solidFill>
                <a:latin typeface="Calibri" pitchFamily="34" charset="0"/>
                <a:ea typeface="Calibri" pitchFamily="34" charset="-122"/>
                <a:cs typeface="Calibri" pitchFamily="34" charset="-120"/>
              </a:rPr>
              <a:t>To be fair: prompting on every grep would make it unusable. The default is right — the marketing sentence is what misleads.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475488"/>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475488"/>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1051560" y="384048"/>
            <a:ext cx="10515600" cy="566928"/>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cd does not scope your reads</a:t>
            </a:r>
            <a:endParaRPr lang="en-US" sz="3000" dirty="0"/>
          </a:p>
        </p:txBody>
      </p:sp>
      <p:sp>
        <p:nvSpPr>
          <p:cNvPr id="6" name="Shape 3"/>
          <p:cNvSpPr/>
          <p:nvPr/>
        </p:nvSpPr>
        <p:spPr>
          <a:xfrm>
            <a:off x="594360" y="1463040"/>
            <a:ext cx="6400800" cy="2103120"/>
          </a:xfrm>
          <a:prstGeom prst="roundRect">
            <a:avLst>
              <a:gd name="adj" fmla="val 2174"/>
            </a:avLst>
          </a:prstGeom>
          <a:solidFill>
            <a:srgbClr val="010409"/>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7" name="Text 4"/>
          <p:cNvSpPr txBox="1"/>
          <p:nvPr/>
        </p:nvSpPr>
        <p:spPr>
          <a:xfrm>
            <a:off x="832104" y="1645920"/>
            <a:ext cx="5943600" cy="1737360"/>
          </a:xfrm>
          <a:prstGeom prst="rect">
            <a:avLst/>
          </a:prstGeom>
          <a:noFill/>
          <a:ln/>
        </p:spPr>
        <p:txBody>
          <a:bodyPr wrap="square" lIns="0" tIns="0" rIns="0" bIns="0" rtlCol="0" anchor="t"/>
          <a:lstStyle/>
          <a:p>
            <a:pPr algn="l" indent="0" marL="0">
              <a:lnSpc>
                <a:spcPts val="2025"/>
              </a:lnSpc>
              <a:buNone/>
            </a:pPr>
            <a:r>
              <a:rPr lang="en-US" sz="1350" dirty="0">
                <a:solidFill>
                  <a:srgbClr val="E6EDF3"/>
                </a:solidFill>
                <a:latin typeface="Courier New" pitchFamily="34" charset="0"/>
                <a:ea typeface="Courier New" pitchFamily="34" charset="-122"/>
                <a:cs typeface="Courier New" pitchFamily="34" charset="-120"/>
              </a:rPr>
              <a:t>repo/</a:t>
            </a:r>
            <a:endParaRPr lang="en-US" sz="1350" dirty="0"/>
          </a:p>
          <a:p>
            <a:pPr algn="l" indent="0" marL="0">
              <a:lnSpc>
                <a:spcPts val="2025"/>
              </a:lnSpc>
              <a:buNone/>
            </a:pPr>
            <a:r>
              <a:rPr lang="en-US" sz="1350" dirty="0">
                <a:solidFill>
                  <a:srgbClr val="3FB950"/>
                </a:solidFill>
                <a:latin typeface="Courier New" pitchFamily="34" charset="0"/>
                <a:ea typeface="Courier New" pitchFamily="34" charset="-122"/>
                <a:cs typeface="Courier New" pitchFamily="34" charset="-120"/>
              </a:rPr>
              <a:t>  terraform/        ← you are here</a:t>
            </a:r>
            <a:endParaRPr lang="en-US" sz="1350" dirty="0"/>
          </a:p>
          <a:p>
            <a:pPr algn="l" indent="0" marL="0">
              <a:lnSpc>
                <a:spcPts val="2025"/>
              </a:lnSpc>
              <a:buNone/>
            </a:pPr>
            <a:r>
              <a:rPr lang="en-US" sz="1350" dirty="0">
                <a:solidFill>
                  <a:srgbClr val="58A6FF"/>
                </a:solidFill>
                <a:latin typeface="Courier New" pitchFamily="34" charset="0"/>
                <a:ea typeface="Courier New" pitchFamily="34" charset="-122"/>
                <a:cs typeface="Courier New" pitchFamily="34" charset="-120"/>
              </a:rPr>
              <a:t>  .github/</a:t>
            </a:r>
            <a:endParaRPr lang="en-US" sz="1350" dirty="0"/>
          </a:p>
          <a:p>
            <a:pPr algn="l" indent="0" marL="0">
              <a:lnSpc>
                <a:spcPts val="2025"/>
              </a:lnSpc>
              <a:buNone/>
            </a:pPr>
            <a:r>
              <a:rPr lang="en-US" sz="1350" dirty="0">
                <a:solidFill>
                  <a:srgbClr val="58A6FF"/>
                </a:solidFill>
                <a:latin typeface="Courier New" pitchFamily="34" charset="0"/>
                <a:ea typeface="Courier New" pitchFamily="34" charset="-122"/>
                <a:cs typeface="Courier New" pitchFamily="34" charset="-120"/>
              </a:rPr>
              <a:t>  secrets/</a:t>
            </a:r>
            <a:endParaRPr lang="en-US" sz="1350" dirty="0"/>
          </a:p>
          <a:p>
            <a:pPr algn="l" indent="0" marL="0">
              <a:lnSpc>
                <a:spcPts val="2025"/>
              </a:lnSpc>
              <a:buNone/>
            </a:pPr>
            <a:r>
              <a:rPr lang="en-US" sz="1350" dirty="0">
                <a:solidFill>
                  <a:srgbClr val="F85149"/>
                </a:solidFill>
                <a:latin typeface="Courier New" pitchFamily="34" charset="0"/>
                <a:ea typeface="Courier New" pitchFamily="34" charset="-122"/>
                <a:cs typeface="Courier New" pitchFamily="34" charset="-120"/>
              </a:rPr>
              <a:t>  .env              ← readable, unless denied</a:t>
            </a:r>
            <a:endParaRPr lang="en-US" sz="1350" dirty="0"/>
          </a:p>
        </p:txBody>
      </p:sp>
      <p:sp>
        <p:nvSpPr>
          <p:cNvPr id="8" name="Shape 5"/>
          <p:cNvSpPr/>
          <p:nvPr/>
        </p:nvSpPr>
        <p:spPr>
          <a:xfrm>
            <a:off x="7269480" y="1463040"/>
            <a:ext cx="4297680" cy="2103120"/>
          </a:xfrm>
          <a:prstGeom prst="roundRect">
            <a:avLst>
              <a:gd name="adj" fmla="val 2174"/>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9" name="Text 6"/>
          <p:cNvSpPr txBox="1"/>
          <p:nvPr/>
        </p:nvSpPr>
        <p:spPr>
          <a:xfrm>
            <a:off x="7543800" y="1783080"/>
            <a:ext cx="3749040" cy="1828800"/>
          </a:xfrm>
          <a:prstGeom prst="rect">
            <a:avLst/>
          </a:prstGeom>
          <a:noFill/>
          <a:ln/>
        </p:spPr>
        <p:txBody>
          <a:bodyPr wrap="square" lIns="0" tIns="0" rIns="0" bIns="0" rtlCol="0" anchor="ctr"/>
          <a:lstStyle/>
          <a:p>
            <a:pPr indent="0" marL="0">
              <a:lnSpc>
                <a:spcPts val="2100"/>
              </a:lnSpc>
              <a:buNone/>
            </a:pPr>
            <a:r>
              <a:rPr lang="en-US" sz="1400" b="1" dirty="0">
                <a:solidFill>
                  <a:srgbClr val="58A6FF"/>
                </a:solidFill>
                <a:latin typeface="Courier New" pitchFamily="34" charset="0"/>
                <a:ea typeface="Courier New" pitchFamily="34" charset="-122"/>
                <a:cs typeface="Courier New" pitchFamily="34" charset="-120"/>
              </a:rPr>
              <a:t>read</a:t>
            </a:r>
            <a:endParaRPr lang="en-US" sz="1400" dirty="0"/>
          </a:p>
          <a:p>
            <a:pPr indent="0" marL="0">
              <a:lnSpc>
                <a:spcPts val="2100"/>
              </a:lnSpc>
              <a:buNone/>
            </a:pPr>
            <a:r>
              <a:rPr lang="en-US" sz="1400" dirty="0">
                <a:solidFill>
                  <a:srgbClr val="8B949E"/>
                </a:solidFill>
                <a:latin typeface="Calibri" pitchFamily="34" charset="0"/>
                <a:ea typeface="Calibri" pitchFamily="34" charset="-122"/>
                <a:cs typeface="Calibri" pitchFamily="34" charset="-120"/>
              </a:rPr>
              <a:t>the whole repository</a:t>
            </a:r>
            <a:endParaRPr lang="en-US" sz="1400" dirty="0"/>
          </a:p>
          <a:p>
            <a:pPr indent="0" marL="0">
              <a:lnSpc>
                <a:spcPts val="2100"/>
              </a:lnSpc>
              <a:buNone/>
            </a:pPr>
            <a:r>
              <a:rPr lang="en-US" sz="800" dirty="0">
                <a:solidFill>
                  <a:srgbClr val="000000"/>
                </a:solidFill>
              </a:rPr>
              <a:t> </a:t>
            </a:r>
            <a:endParaRPr lang="en-US" sz="1400" dirty="0"/>
          </a:p>
          <a:p>
            <a:pPr indent="0" marL="0">
              <a:lnSpc>
                <a:spcPts val="2100"/>
              </a:lnSpc>
              <a:buNone/>
            </a:pPr>
            <a:r>
              <a:rPr lang="en-US" sz="1400" b="1" dirty="0">
                <a:solidFill>
                  <a:srgbClr val="3FB950"/>
                </a:solidFill>
                <a:latin typeface="Courier New" pitchFamily="34" charset="0"/>
                <a:ea typeface="Courier New" pitchFamily="34" charset="-122"/>
                <a:cs typeface="Courier New" pitchFamily="34" charset="-120"/>
              </a:rPr>
              <a:t>write</a:t>
            </a:r>
            <a:endParaRPr lang="en-US" sz="1400" dirty="0"/>
          </a:p>
          <a:p>
            <a:pPr indent="0" marL="0">
              <a:lnSpc>
                <a:spcPts val="2100"/>
              </a:lnSpc>
              <a:buNone/>
            </a:pPr>
            <a:r>
              <a:rPr lang="en-US" sz="1400" dirty="0">
                <a:solidFill>
                  <a:srgbClr val="8B949E"/>
                </a:solidFill>
                <a:latin typeface="Calibri" pitchFamily="34" charset="0"/>
                <a:ea typeface="Calibri" pitchFamily="34" charset="-122"/>
                <a:cs typeface="Calibri" pitchFamily="34" charset="-120"/>
              </a:rPr>
              <a:t>your CWD and .git only</a:t>
            </a:r>
            <a:endParaRPr lang="en-US" sz="1400" dirty="0"/>
          </a:p>
        </p:txBody>
      </p:sp>
      <p:sp>
        <p:nvSpPr>
          <p:cNvPr id="10" name="Shape 7"/>
          <p:cNvSpPr/>
          <p:nvPr/>
        </p:nvSpPr>
        <p:spPr>
          <a:xfrm>
            <a:off x="594360" y="3886200"/>
            <a:ext cx="10972800" cy="1371600"/>
          </a:xfrm>
          <a:prstGeom prst="roundRect">
            <a:avLst>
              <a:gd name="adj" fmla="val 3333"/>
            </a:avLst>
          </a:prstGeom>
          <a:solidFill>
            <a:srgbClr val="1C2128"/>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1" name="Text 8"/>
          <p:cNvSpPr txBox="1"/>
          <p:nvPr/>
        </p:nvSpPr>
        <p:spPr>
          <a:xfrm>
            <a:off x="960120" y="4142232"/>
            <a:ext cx="10241280" cy="914400"/>
          </a:xfrm>
          <a:prstGeom prst="rect">
            <a:avLst/>
          </a:prstGeom>
          <a:noFill/>
          <a:ln/>
        </p:spPr>
        <p:txBody>
          <a:bodyPr wrap="square" lIns="0" tIns="0" rIns="0" bIns="0" rtlCol="0" anchor="ctr"/>
          <a:lstStyle/>
          <a:p>
            <a:pPr indent="0" marL="0">
              <a:lnSpc>
                <a:spcPts val="2200"/>
              </a:lnSpc>
              <a:buNone/>
            </a:pPr>
            <a:r>
              <a:rPr lang="en-US" sz="1450" b="1" dirty="0">
                <a:solidFill>
                  <a:srgbClr val="F0883E"/>
                </a:solidFill>
                <a:latin typeface="Calibri" pitchFamily="34" charset="0"/>
                <a:ea typeface="Calibri" pitchFamily="34" charset="-122"/>
                <a:cs typeface="Calibri" pitchFamily="34" charset="-120"/>
              </a:rPr>
              <a:t>The fix.  </a:t>
            </a:r>
            <a:pPr indent="0" marL="0">
              <a:lnSpc>
                <a:spcPts val="2200"/>
              </a:lnSpc>
              <a:buNone/>
            </a:pPr>
            <a:r>
              <a:rPr lang="en-US" sz="1450" dirty="0">
                <a:solidFill>
                  <a:srgbClr val="E6EDF3"/>
                </a:solidFill>
                <a:latin typeface="Calibri" pitchFamily="34" charset="0"/>
                <a:ea typeface="Calibri" pitchFamily="34" charset="-122"/>
                <a:cs typeface="Calibri" pitchFamily="34" charset="-120"/>
              </a:rPr>
              <a:t>An explicit deny rule. Rules </a:t>
            </a:r>
            <a:pPr indent="0" marL="0">
              <a:lnSpc>
                <a:spcPts val="2200"/>
              </a:lnSpc>
              <a:buNone/>
            </a:pPr>
            <a:r>
              <a:rPr lang="en-US" sz="1450" i="1" dirty="0">
                <a:solidFill>
                  <a:srgbClr val="E6EDF3"/>
                </a:solidFill>
                <a:latin typeface="Calibri" pitchFamily="34" charset="0"/>
                <a:ea typeface="Calibri" pitchFamily="34" charset="-122"/>
                <a:cs typeface="Calibri" pitchFamily="34" charset="-120"/>
              </a:rPr>
              <a:t>you</a:t>
            </a:r>
            <a:pPr indent="0" marL="0">
              <a:lnSpc>
                <a:spcPts val="2200"/>
              </a:lnSpc>
              <a:buNone/>
            </a:pPr>
            <a:r>
              <a:rPr lang="en-US" sz="1450" dirty="0">
                <a:solidFill>
                  <a:srgbClr val="E6EDF3"/>
                </a:solidFill>
                <a:latin typeface="Calibri" pitchFamily="34" charset="0"/>
                <a:ea typeface="Calibri" pitchFamily="34" charset="-122"/>
                <a:cs typeface="Calibri" pitchFamily="34" charset="-120"/>
              </a:rPr>
              <a:t> configure are always kept — even when the path would</a:t>
            </a:r>
            <a:endParaRPr lang="en-US" sz="1450" dirty="0"/>
          </a:p>
          <a:p>
            <a:pPr indent="0" marL="0">
              <a:lnSpc>
                <a:spcPts val="2200"/>
              </a:lnSpc>
              <a:buNone/>
            </a:pPr>
            <a:r>
              <a:rPr lang="en-US" sz="1450" dirty="0">
                <a:solidFill>
                  <a:srgbClr val="E6EDF3"/>
                </a:solidFill>
                <a:latin typeface="Calibri" pitchFamily="34" charset="0"/>
                <a:ea typeface="Calibri" pitchFamily="34" charset="-122"/>
                <a:cs typeface="Calibri" pitchFamily="34" charset="-120"/>
              </a:rPr>
              <a:t>otherwise be discovered and granted automatically. Confirm with </a:t>
            </a:r>
            <a:endParaRPr lang="en-US" sz="1450" dirty="0"/>
          </a:p>
          <a:p>
            <a:pPr indent="0" marL="0">
              <a:lnSpc>
                <a:spcPts val="2200"/>
              </a:lnSpc>
              <a:buNone/>
            </a:pPr>
            <a:r>
              <a:rPr lang="en-US" sz="1450" dirty="0">
                <a:solidFill>
                  <a:srgbClr val="58A6FF"/>
                </a:solidFill>
                <a:latin typeface="Courier New" pitchFamily="34" charset="0"/>
                <a:ea typeface="Courier New" pitchFamily="34" charset="-122"/>
                <a:cs typeface="Courier New" pitchFamily="34" charset="-120"/>
              </a:rPr>
              <a:t>/sandbox policy</a:t>
            </a:r>
            <a:pPr indent="0" marL="0">
              <a:lnSpc>
                <a:spcPts val="2200"/>
              </a:lnSpc>
              <a:buNone/>
            </a:pPr>
            <a:r>
              <a:rPr lang="en-US" sz="1450" dirty="0">
                <a:solidFill>
                  <a:srgbClr val="E6EDF3"/>
                </a:solidFill>
                <a:latin typeface="Calibri" pitchFamily="34" charset="0"/>
                <a:ea typeface="Calibri" pitchFamily="34" charset="-122"/>
                <a:cs typeface="Calibri" pitchFamily="34" charset="-120"/>
              </a:rPr>
              <a:t>.</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475488"/>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475488"/>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1051560" y="384048"/>
            <a:ext cx="10515600" cy="566928"/>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Where the sandbox stops</a:t>
            </a:r>
            <a:endParaRPr lang="en-US" sz="3000" dirty="0"/>
          </a:p>
        </p:txBody>
      </p:sp>
      <p:sp>
        <p:nvSpPr>
          <p:cNvPr id="6" name="Shape 3"/>
          <p:cNvSpPr/>
          <p:nvPr/>
        </p:nvSpPr>
        <p:spPr>
          <a:xfrm>
            <a:off x="594360" y="1463040"/>
            <a:ext cx="3474720" cy="2057400"/>
          </a:xfrm>
          <a:prstGeom prst="roundRect">
            <a:avLst>
              <a:gd name="adj" fmla="val 2222"/>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7" name="Shape 4"/>
          <p:cNvSpPr/>
          <p:nvPr/>
        </p:nvSpPr>
        <p:spPr>
          <a:xfrm>
            <a:off x="868680" y="1691640"/>
            <a:ext cx="402336" cy="402336"/>
          </a:xfrm>
          <a:prstGeom prst="roundRect">
            <a:avLst>
              <a:gd name="adj" fmla="val 20455"/>
            </a:avLst>
          </a:prstGeom>
          <a:solidFill>
            <a:srgbClr val="2B1D10"/>
          </a:solidFill>
          <a:ln w="12700">
            <a:solidFill>
              <a:srgbClr val="F0883E"/>
            </a:solidFill>
            <a:prstDash val="solid"/>
          </a:ln>
        </p:spPr>
      </p:sp>
      <p:sp>
        <p:nvSpPr>
          <p:cNvPr id="8" name="Text 5"/>
          <p:cNvSpPr txBox="1"/>
          <p:nvPr/>
        </p:nvSpPr>
        <p:spPr>
          <a:xfrm>
            <a:off x="868680" y="1691640"/>
            <a:ext cx="402336" cy="402336"/>
          </a:xfrm>
          <a:prstGeom prst="rect">
            <a:avLst/>
          </a:prstGeom>
          <a:noFill/>
          <a:ln/>
        </p:spPr>
        <p:txBody>
          <a:bodyPr wrap="square" lIns="0" tIns="0" rIns="0" bIns="0" rtlCol="0" anchor="ctr"/>
          <a:lstStyle/>
          <a:p>
            <a:pPr algn="ctr" indent="0" marL="0">
              <a:buNone/>
            </a:pPr>
            <a:r>
              <a:rPr lang="en-US" sz="1700" b="1" dirty="0">
                <a:solidFill>
                  <a:srgbClr val="F0883E"/>
                </a:solidFill>
                <a:latin typeface="Arial" pitchFamily="34" charset="0"/>
                <a:ea typeface="Arial" pitchFamily="34" charset="-122"/>
                <a:cs typeface="Arial" pitchFamily="34" charset="-120"/>
              </a:rPr>
              <a:t>!</a:t>
            </a:r>
            <a:endParaRPr lang="en-US" sz="1700" dirty="0"/>
          </a:p>
        </p:txBody>
      </p:sp>
      <p:sp>
        <p:nvSpPr>
          <p:cNvPr id="9" name="Text 6"/>
          <p:cNvSpPr txBox="1"/>
          <p:nvPr/>
        </p:nvSpPr>
        <p:spPr>
          <a:xfrm>
            <a:off x="868680" y="2212848"/>
            <a:ext cx="2926080" cy="320040"/>
          </a:xfrm>
          <a:prstGeom prst="rect">
            <a:avLst/>
          </a:prstGeom>
          <a:noFill/>
          <a:ln/>
        </p:spPr>
        <p:txBody>
          <a:bodyPr wrap="square" lIns="0" tIns="0" rIns="0" bIns="0" rtlCol="0" anchor="ctr"/>
          <a:lstStyle/>
          <a:p>
            <a:pPr indent="0" marL="0">
              <a:buNone/>
            </a:pPr>
            <a:r>
              <a:rPr lang="en-US" sz="1550" b="1" dirty="0">
                <a:solidFill>
                  <a:srgbClr val="E6EDF3"/>
                </a:solidFill>
                <a:latin typeface="Arial" pitchFamily="34" charset="0"/>
                <a:ea typeface="Arial" pitchFamily="34" charset="-122"/>
                <a:cs typeface="Arial" pitchFamily="34" charset="-120"/>
              </a:rPr>
              <a:t>Built-in file tools</a:t>
            </a:r>
            <a:endParaRPr lang="en-US" sz="1550" dirty="0"/>
          </a:p>
        </p:txBody>
      </p:sp>
      <p:sp>
        <p:nvSpPr>
          <p:cNvPr id="10" name="Text 7"/>
          <p:cNvSpPr txBox="1"/>
          <p:nvPr/>
        </p:nvSpPr>
        <p:spPr>
          <a:xfrm>
            <a:off x="868680" y="2606040"/>
            <a:ext cx="2926080" cy="914400"/>
          </a:xfrm>
          <a:prstGeom prst="rect">
            <a:avLst/>
          </a:prstGeom>
          <a:noFill/>
          <a:ln/>
        </p:spPr>
        <p:txBody>
          <a:bodyPr wrap="square" lIns="0" tIns="0" rIns="0" bIns="0" rtlCol="0" anchor="ctr"/>
          <a:lstStyle/>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Run in-process, not as sandboxed</a:t>
            </a:r>
            <a:endParaRPr lang="en-US" sz="1250" dirty="0"/>
          </a:p>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children. Same policy, checked in</a:t>
            </a:r>
            <a:endParaRPr lang="en-US" sz="1250" dirty="0"/>
          </a:p>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software. No OS backstop.</a:t>
            </a:r>
            <a:endParaRPr lang="en-US" sz="1250" dirty="0"/>
          </a:p>
        </p:txBody>
      </p:sp>
      <p:sp>
        <p:nvSpPr>
          <p:cNvPr id="11" name="Shape 8"/>
          <p:cNvSpPr/>
          <p:nvPr/>
        </p:nvSpPr>
        <p:spPr>
          <a:xfrm>
            <a:off x="4343400" y="1463040"/>
            <a:ext cx="3474720" cy="2057400"/>
          </a:xfrm>
          <a:prstGeom prst="roundRect">
            <a:avLst>
              <a:gd name="adj" fmla="val 2222"/>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2" name="Shape 9"/>
          <p:cNvSpPr/>
          <p:nvPr/>
        </p:nvSpPr>
        <p:spPr>
          <a:xfrm>
            <a:off x="4617720" y="1691640"/>
            <a:ext cx="402336" cy="402336"/>
          </a:xfrm>
          <a:prstGeom prst="roundRect">
            <a:avLst>
              <a:gd name="adj" fmla="val 20455"/>
            </a:avLst>
          </a:prstGeom>
          <a:solidFill>
            <a:srgbClr val="2B1D10"/>
          </a:solidFill>
          <a:ln w="12700">
            <a:solidFill>
              <a:srgbClr val="F0883E"/>
            </a:solidFill>
            <a:prstDash val="solid"/>
          </a:ln>
        </p:spPr>
      </p:sp>
      <p:sp>
        <p:nvSpPr>
          <p:cNvPr id="13" name="Text 10"/>
          <p:cNvSpPr txBox="1"/>
          <p:nvPr/>
        </p:nvSpPr>
        <p:spPr>
          <a:xfrm>
            <a:off x="4617720" y="1691640"/>
            <a:ext cx="402336" cy="402336"/>
          </a:xfrm>
          <a:prstGeom prst="rect">
            <a:avLst/>
          </a:prstGeom>
          <a:noFill/>
          <a:ln/>
        </p:spPr>
        <p:txBody>
          <a:bodyPr wrap="square" lIns="0" tIns="0" rIns="0" bIns="0" rtlCol="0" anchor="ctr"/>
          <a:lstStyle/>
          <a:p>
            <a:pPr algn="ctr" indent="0" marL="0">
              <a:buNone/>
            </a:pPr>
            <a:r>
              <a:rPr lang="en-US" sz="1700" b="1" dirty="0">
                <a:solidFill>
                  <a:srgbClr val="F0883E"/>
                </a:solidFill>
                <a:latin typeface="Arial" pitchFamily="34" charset="0"/>
                <a:ea typeface="Arial" pitchFamily="34" charset="-122"/>
                <a:cs typeface="Arial" pitchFamily="34" charset="-120"/>
              </a:rPr>
              <a:t>!</a:t>
            </a:r>
            <a:endParaRPr lang="en-US" sz="1700" dirty="0"/>
          </a:p>
        </p:txBody>
      </p:sp>
      <p:sp>
        <p:nvSpPr>
          <p:cNvPr id="14" name="Text 11"/>
          <p:cNvSpPr txBox="1"/>
          <p:nvPr/>
        </p:nvSpPr>
        <p:spPr>
          <a:xfrm>
            <a:off x="4617720" y="2212848"/>
            <a:ext cx="2926080" cy="320040"/>
          </a:xfrm>
          <a:prstGeom prst="rect">
            <a:avLst/>
          </a:prstGeom>
          <a:noFill/>
          <a:ln/>
        </p:spPr>
        <p:txBody>
          <a:bodyPr wrap="square" lIns="0" tIns="0" rIns="0" bIns="0" rtlCol="0" anchor="ctr"/>
          <a:lstStyle/>
          <a:p>
            <a:pPr indent="0" marL="0">
              <a:buNone/>
            </a:pPr>
            <a:r>
              <a:rPr lang="en-US" sz="1550" b="1" dirty="0">
                <a:solidFill>
                  <a:srgbClr val="E6EDF3"/>
                </a:solidFill>
                <a:latin typeface="Arial" pitchFamily="34" charset="0"/>
                <a:ea typeface="Arial" pitchFamily="34" charset="-122"/>
                <a:cs typeface="Arial" pitchFamily="34" charset="-120"/>
              </a:rPr>
              <a:t>Remote MCP servers</a:t>
            </a:r>
            <a:endParaRPr lang="en-US" sz="1550" dirty="0"/>
          </a:p>
        </p:txBody>
      </p:sp>
      <p:sp>
        <p:nvSpPr>
          <p:cNvPr id="15" name="Text 12"/>
          <p:cNvSpPr txBox="1"/>
          <p:nvPr/>
        </p:nvSpPr>
        <p:spPr>
          <a:xfrm>
            <a:off x="4617720" y="2606040"/>
            <a:ext cx="2926080" cy="914400"/>
          </a:xfrm>
          <a:prstGeom prst="rect">
            <a:avLst/>
          </a:prstGeom>
          <a:noFill/>
          <a:ln/>
        </p:spPr>
        <p:txBody>
          <a:bodyPr wrap="square" lIns="0" tIns="0" rIns="0" bIns="0" rtlCol="0" anchor="ctr"/>
          <a:lstStyle/>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Run off your machine. The filesystem</a:t>
            </a:r>
            <a:endParaRPr lang="en-US" sz="1250" dirty="0"/>
          </a:p>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policy does not constrain them</a:t>
            </a:r>
            <a:endParaRPr lang="en-US" sz="1250" dirty="0"/>
          </a:p>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at all.</a:t>
            </a:r>
            <a:endParaRPr lang="en-US" sz="1250" dirty="0"/>
          </a:p>
        </p:txBody>
      </p:sp>
      <p:sp>
        <p:nvSpPr>
          <p:cNvPr id="16" name="Shape 13"/>
          <p:cNvSpPr/>
          <p:nvPr/>
        </p:nvSpPr>
        <p:spPr>
          <a:xfrm>
            <a:off x="8092440" y="1463040"/>
            <a:ext cx="3474720" cy="2057400"/>
          </a:xfrm>
          <a:prstGeom prst="roundRect">
            <a:avLst>
              <a:gd name="adj" fmla="val 2222"/>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7" name="Shape 14"/>
          <p:cNvSpPr/>
          <p:nvPr/>
        </p:nvSpPr>
        <p:spPr>
          <a:xfrm>
            <a:off x="8366760" y="1691640"/>
            <a:ext cx="402336" cy="402336"/>
          </a:xfrm>
          <a:prstGeom prst="roundRect">
            <a:avLst>
              <a:gd name="adj" fmla="val 20455"/>
            </a:avLst>
          </a:prstGeom>
          <a:solidFill>
            <a:srgbClr val="2B1D10"/>
          </a:solidFill>
          <a:ln w="12700">
            <a:solidFill>
              <a:srgbClr val="F0883E"/>
            </a:solidFill>
            <a:prstDash val="solid"/>
          </a:ln>
        </p:spPr>
      </p:sp>
      <p:sp>
        <p:nvSpPr>
          <p:cNvPr id="18" name="Text 15"/>
          <p:cNvSpPr txBox="1"/>
          <p:nvPr/>
        </p:nvSpPr>
        <p:spPr>
          <a:xfrm>
            <a:off x="8366760" y="1691640"/>
            <a:ext cx="402336" cy="402336"/>
          </a:xfrm>
          <a:prstGeom prst="rect">
            <a:avLst/>
          </a:prstGeom>
          <a:noFill/>
          <a:ln/>
        </p:spPr>
        <p:txBody>
          <a:bodyPr wrap="square" lIns="0" tIns="0" rIns="0" bIns="0" rtlCol="0" anchor="ctr"/>
          <a:lstStyle/>
          <a:p>
            <a:pPr algn="ctr" indent="0" marL="0">
              <a:buNone/>
            </a:pPr>
            <a:r>
              <a:rPr lang="en-US" sz="1700" b="1" dirty="0">
                <a:solidFill>
                  <a:srgbClr val="F0883E"/>
                </a:solidFill>
                <a:latin typeface="Arial" pitchFamily="34" charset="0"/>
                <a:ea typeface="Arial" pitchFamily="34" charset="-122"/>
                <a:cs typeface="Arial" pitchFamily="34" charset="-120"/>
              </a:rPr>
              <a:t>!</a:t>
            </a:r>
            <a:endParaRPr lang="en-US" sz="1700" dirty="0"/>
          </a:p>
        </p:txBody>
      </p:sp>
      <p:sp>
        <p:nvSpPr>
          <p:cNvPr id="19" name="Text 16"/>
          <p:cNvSpPr txBox="1"/>
          <p:nvPr/>
        </p:nvSpPr>
        <p:spPr>
          <a:xfrm>
            <a:off x="8366760" y="2212848"/>
            <a:ext cx="2926080" cy="320040"/>
          </a:xfrm>
          <a:prstGeom prst="rect">
            <a:avLst/>
          </a:prstGeom>
          <a:noFill/>
          <a:ln/>
        </p:spPr>
        <p:txBody>
          <a:bodyPr wrap="square" lIns="0" tIns="0" rIns="0" bIns="0" rtlCol="0" anchor="ctr"/>
          <a:lstStyle/>
          <a:p>
            <a:pPr indent="0" marL="0">
              <a:buNone/>
            </a:pPr>
            <a:r>
              <a:rPr lang="en-US" sz="1550" b="1" dirty="0">
                <a:solidFill>
                  <a:srgbClr val="E6EDF3"/>
                </a:solidFill>
                <a:latin typeface="Arial" pitchFamily="34" charset="0"/>
                <a:ea typeface="Arial" pitchFamily="34" charset="-122"/>
                <a:cs typeface="Arial" pitchFamily="34" charset="-120"/>
              </a:rPr>
              <a:t>Public preview</a:t>
            </a:r>
            <a:endParaRPr lang="en-US" sz="1550" dirty="0"/>
          </a:p>
        </p:txBody>
      </p:sp>
      <p:sp>
        <p:nvSpPr>
          <p:cNvPr id="20" name="Text 17"/>
          <p:cNvSpPr txBox="1"/>
          <p:nvPr/>
        </p:nvSpPr>
        <p:spPr>
          <a:xfrm>
            <a:off x="8366760" y="2606040"/>
            <a:ext cx="2926080" cy="914400"/>
          </a:xfrm>
          <a:prstGeom prst="rect">
            <a:avLst/>
          </a:prstGeom>
          <a:noFill/>
          <a:ln/>
        </p:spPr>
        <p:txBody>
          <a:bodyPr wrap="square" lIns="0" tIns="0" rIns="0" bIns="0" rtlCol="0" anchor="ctr"/>
          <a:lstStyle/>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GitHub says local sandboxing is</a:t>
            </a:r>
            <a:endParaRPr lang="en-US" sz="1250" dirty="0"/>
          </a:p>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subject to change. Windows needs</a:t>
            </a:r>
            <a:endParaRPr lang="en-US" sz="1250" dirty="0"/>
          </a:p>
          <a:p>
            <a:pPr indent="0" marL="0">
              <a:lnSpc>
                <a:spcPts val="1800"/>
              </a:lnSpc>
              <a:buNone/>
            </a:pPr>
            <a:r>
              <a:rPr lang="en-US" sz="1250" dirty="0">
                <a:solidFill>
                  <a:srgbClr val="8B949E"/>
                </a:solidFill>
                <a:latin typeface="Calibri" pitchFamily="34" charset="0"/>
                <a:ea typeface="Calibri" pitchFamily="34" charset="-122"/>
                <a:cs typeface="Calibri" pitchFamily="34" charset="-120"/>
              </a:rPr>
              <a:t>an Insiders build.</a:t>
            </a:r>
            <a:endParaRPr lang="en-US" sz="1250" dirty="0"/>
          </a:p>
        </p:txBody>
      </p:sp>
      <p:sp>
        <p:nvSpPr>
          <p:cNvPr id="21" name="Shape 18"/>
          <p:cNvSpPr/>
          <p:nvPr/>
        </p:nvSpPr>
        <p:spPr>
          <a:xfrm>
            <a:off x="594360" y="3794760"/>
            <a:ext cx="10972800" cy="1371600"/>
          </a:xfrm>
          <a:prstGeom prst="roundRect">
            <a:avLst>
              <a:gd name="adj" fmla="val 3333"/>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22" name="Shape 19"/>
          <p:cNvSpPr/>
          <p:nvPr/>
        </p:nvSpPr>
        <p:spPr>
          <a:xfrm>
            <a:off x="914400" y="4114800"/>
            <a:ext cx="402336" cy="402336"/>
          </a:xfrm>
          <a:prstGeom prst="roundRect">
            <a:avLst>
              <a:gd name="adj" fmla="val 20455"/>
            </a:avLst>
          </a:prstGeom>
          <a:solidFill>
            <a:srgbClr val="0D2818"/>
          </a:solidFill>
          <a:ln w="12700">
            <a:solidFill>
              <a:srgbClr val="3FB950"/>
            </a:solidFill>
            <a:prstDash val="solid"/>
          </a:ln>
        </p:spPr>
      </p:sp>
      <p:sp>
        <p:nvSpPr>
          <p:cNvPr id="23" name="Text 20"/>
          <p:cNvSpPr txBox="1"/>
          <p:nvPr/>
        </p:nvSpPr>
        <p:spPr>
          <a:xfrm>
            <a:off x="914400" y="4114800"/>
            <a:ext cx="402336" cy="402336"/>
          </a:xfrm>
          <a:prstGeom prst="rect">
            <a:avLst/>
          </a:prstGeom>
          <a:noFill/>
          <a:ln/>
        </p:spPr>
        <p:txBody>
          <a:bodyPr wrap="square" lIns="0" tIns="0" rIns="0" bIns="0" rtlCol="0" anchor="ctr"/>
          <a:lstStyle/>
          <a:p>
            <a:pPr algn="ctr" indent="0" marL="0">
              <a:buNone/>
            </a:pPr>
            <a:r>
              <a:rPr lang="en-US" sz="1500" b="1" dirty="0">
                <a:solidFill>
                  <a:srgbClr val="3FB950"/>
                </a:solidFill>
                <a:latin typeface="Arial" pitchFamily="34" charset="0"/>
                <a:ea typeface="Arial" pitchFamily="34" charset="-122"/>
                <a:cs typeface="Arial" pitchFamily="34" charset="-120"/>
              </a:rPr>
              <a:t>✓</a:t>
            </a:r>
            <a:endParaRPr lang="en-US" sz="1500" dirty="0"/>
          </a:p>
        </p:txBody>
      </p:sp>
      <p:sp>
        <p:nvSpPr>
          <p:cNvPr id="24" name="Text 21"/>
          <p:cNvSpPr txBox="1"/>
          <p:nvPr/>
        </p:nvSpPr>
        <p:spPr>
          <a:xfrm>
            <a:off x="1508760" y="4087368"/>
            <a:ext cx="9692640" cy="822960"/>
          </a:xfrm>
          <a:prstGeom prst="rect">
            <a:avLst/>
          </a:prstGeom>
          <a:noFill/>
          <a:ln/>
        </p:spPr>
        <p:txBody>
          <a:bodyPr wrap="square" lIns="0" tIns="0" rIns="0" bIns="0" rtlCol="0" anchor="ctr"/>
          <a:lstStyle/>
          <a:p>
            <a:pPr indent="0" marL="0">
              <a:lnSpc>
                <a:spcPts val="2200"/>
              </a:lnSpc>
              <a:buNone/>
            </a:pPr>
            <a:r>
              <a:rPr lang="en-US" sz="1450" b="1" dirty="0">
                <a:solidFill>
                  <a:srgbClr val="3FB950"/>
                </a:solidFill>
                <a:latin typeface="Calibri" pitchFamily="34" charset="0"/>
                <a:ea typeface="Calibri" pitchFamily="34" charset="-122"/>
                <a:cs typeface="Calibri" pitchFamily="34" charset="-120"/>
              </a:rPr>
              <a:t>Credit where it is due.  </a:t>
            </a:r>
            <a:pPr indent="0" marL="0">
              <a:lnSpc>
                <a:spcPts val="2200"/>
              </a:lnSpc>
              <a:buNone/>
            </a:pPr>
            <a:r>
              <a:rPr lang="en-US" sz="1450" dirty="0">
                <a:solidFill>
                  <a:srgbClr val="E6EDF3"/>
                </a:solidFill>
                <a:latin typeface="Calibri" pitchFamily="34" charset="0"/>
                <a:ea typeface="Calibri" pitchFamily="34" charset="-122"/>
                <a:cs typeface="Calibri" pitchFamily="34" charset="-120"/>
              </a:rPr>
              <a:t>A request to escape the sandbox always requires interactive human</a:t>
            </a:r>
            <a:endParaRPr lang="en-US" sz="1450" dirty="0"/>
          </a:p>
          <a:p>
            <a:pPr indent="0" marL="0">
              <a:lnSpc>
                <a:spcPts val="2200"/>
              </a:lnSpc>
              <a:buNone/>
            </a:pPr>
            <a:r>
              <a:rPr lang="en-US" sz="1450" dirty="0">
                <a:solidFill>
                  <a:srgbClr val="E6EDF3"/>
                </a:solidFill>
                <a:latin typeface="Calibri" pitchFamily="34" charset="0"/>
                <a:ea typeface="Calibri" pitchFamily="34" charset="-122"/>
                <a:cs typeface="Calibri" pitchFamily="34" charset="-120"/>
              </a:rPr>
              <a:t>confirmation. A hook cannot pre-approve it.</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475488"/>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475488"/>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1051560" y="384048"/>
            <a:ext cx="10515600" cy="566928"/>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Approvals do not expire the same way</a:t>
            </a:r>
            <a:endParaRPr lang="en-US" sz="3000" dirty="0"/>
          </a:p>
        </p:txBody>
      </p:sp>
      <p:sp>
        <p:nvSpPr>
          <p:cNvPr id="6" name="Shape 3"/>
          <p:cNvSpPr/>
          <p:nvPr/>
        </p:nvSpPr>
        <p:spPr>
          <a:xfrm>
            <a:off x="594360" y="1463040"/>
            <a:ext cx="10972800" cy="1143000"/>
          </a:xfrm>
          <a:prstGeom prst="roundRect">
            <a:avLst>
              <a:gd name="adj" fmla="val 4000"/>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7" name="Text 4"/>
          <p:cNvSpPr txBox="1"/>
          <p:nvPr/>
        </p:nvSpPr>
        <p:spPr>
          <a:xfrm>
            <a:off x="914400" y="1463040"/>
            <a:ext cx="3200400" cy="1143000"/>
          </a:xfrm>
          <a:prstGeom prst="rect">
            <a:avLst/>
          </a:prstGeom>
          <a:noFill/>
          <a:ln/>
        </p:spPr>
        <p:txBody>
          <a:bodyPr wrap="square" lIns="0" tIns="0" rIns="0" bIns="0" rtlCol="0" anchor="ctr"/>
          <a:lstStyle/>
          <a:p>
            <a:pPr indent="0" marL="0">
              <a:lnSpc>
                <a:spcPts val="1900"/>
              </a:lnSpc>
              <a:buNone/>
            </a:pPr>
            <a:r>
              <a:rPr lang="en-US" sz="1350" dirty="0">
                <a:solidFill>
                  <a:srgbClr val="E6EDF3"/>
                </a:solidFill>
                <a:latin typeface="Calibri" pitchFamily="34" charset="0"/>
                <a:ea typeface="Calibri" pitchFamily="34" charset="-122"/>
                <a:cs typeface="Calibri" pitchFamily="34" charset="-120"/>
              </a:rPr>
              <a:t>Shell / write / MCP</a:t>
            </a:r>
            <a:endParaRPr lang="en-US" sz="1350" dirty="0"/>
          </a:p>
          <a:p>
            <a:pPr indent="0" marL="0">
              <a:lnSpc>
                <a:spcPts val="1900"/>
              </a:lnSpc>
              <a:buNone/>
            </a:pPr>
            <a:r>
              <a:rPr lang="en-US" sz="1350" dirty="0">
                <a:solidFill>
                  <a:srgbClr val="E6EDF3"/>
                </a:solidFill>
                <a:latin typeface="Calibri" pitchFamily="34" charset="0"/>
                <a:ea typeface="Calibri" pitchFamily="34" charset="-122"/>
                <a:cs typeface="Calibri" pitchFamily="34" charset="-120"/>
              </a:rPr>
              <a:t>“don’t ask again here”</a:t>
            </a:r>
            <a:endParaRPr lang="en-US" sz="1350" dirty="0"/>
          </a:p>
        </p:txBody>
      </p:sp>
      <p:sp>
        <p:nvSpPr>
          <p:cNvPr id="8" name="Text 5"/>
          <p:cNvSpPr txBox="1"/>
          <p:nvPr/>
        </p:nvSpPr>
        <p:spPr>
          <a:xfrm>
            <a:off x="4343400" y="1463040"/>
            <a:ext cx="3657600" cy="1143000"/>
          </a:xfrm>
          <a:prstGeom prst="rect">
            <a:avLst/>
          </a:prstGeom>
          <a:noFill/>
          <a:ln/>
        </p:spPr>
        <p:txBody>
          <a:bodyPr wrap="square" lIns="0" tIns="0" rIns="0" bIns="0" rtlCol="0" anchor="ctr"/>
          <a:lstStyle/>
          <a:p>
            <a:pPr indent="0" marL="0">
              <a:buNone/>
            </a:pPr>
            <a:r>
              <a:rPr lang="en-US" sz="1250" dirty="0">
                <a:solidFill>
                  <a:srgbClr val="8B949E"/>
                </a:solidFill>
                <a:latin typeface="Courier New" pitchFamily="34" charset="0"/>
                <a:ea typeface="Courier New" pitchFamily="34" charset="-122"/>
                <a:cs typeface="Courier New" pitchFamily="34" charset="-120"/>
              </a:rPr>
              <a:t>permissions-config.json</a:t>
            </a:r>
            <a:endParaRPr lang="en-US" sz="1250" dirty="0"/>
          </a:p>
        </p:txBody>
      </p:sp>
      <p:sp>
        <p:nvSpPr>
          <p:cNvPr id="9" name="Text 6"/>
          <p:cNvSpPr txBox="1"/>
          <p:nvPr/>
        </p:nvSpPr>
        <p:spPr>
          <a:xfrm>
            <a:off x="8092440" y="1463040"/>
            <a:ext cx="3200400" cy="1143000"/>
          </a:xfrm>
          <a:prstGeom prst="rect">
            <a:avLst/>
          </a:prstGeom>
          <a:noFill/>
          <a:ln/>
        </p:spPr>
        <p:txBody>
          <a:bodyPr wrap="square" lIns="0" tIns="0" rIns="0" bIns="0" rtlCol="0" anchor="ctr"/>
          <a:lstStyle/>
          <a:p>
            <a:pPr algn="r" indent="0" marL="0">
              <a:buNone/>
            </a:pPr>
            <a:r>
              <a:rPr lang="en-US" sz="1400" b="1" dirty="0">
                <a:solidFill>
                  <a:srgbClr val="3FB950"/>
                </a:solidFill>
                <a:latin typeface="Arial" pitchFamily="34" charset="0"/>
                <a:ea typeface="Arial" pitchFamily="34" charset="-122"/>
                <a:cs typeface="Arial" pitchFamily="34" charset="-120"/>
              </a:rPr>
              <a:t>This repo only</a:t>
            </a:r>
            <a:endParaRPr lang="en-US" sz="1400" dirty="0"/>
          </a:p>
        </p:txBody>
      </p:sp>
      <p:sp>
        <p:nvSpPr>
          <p:cNvPr id="10" name="Shape 7"/>
          <p:cNvSpPr/>
          <p:nvPr/>
        </p:nvSpPr>
        <p:spPr>
          <a:xfrm>
            <a:off x="594360" y="2743200"/>
            <a:ext cx="10972800" cy="1143000"/>
          </a:xfrm>
          <a:prstGeom prst="roundRect">
            <a:avLst>
              <a:gd name="adj" fmla="val 4000"/>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1" name="Text 8"/>
          <p:cNvSpPr txBox="1"/>
          <p:nvPr/>
        </p:nvSpPr>
        <p:spPr>
          <a:xfrm>
            <a:off x="914400" y="2743200"/>
            <a:ext cx="3200400" cy="1143000"/>
          </a:xfrm>
          <a:prstGeom prst="rect">
            <a:avLst/>
          </a:prstGeom>
          <a:noFill/>
          <a:ln/>
        </p:spPr>
        <p:txBody>
          <a:bodyPr wrap="square" lIns="0" tIns="0" rIns="0" bIns="0" rtlCol="0" anchor="ctr"/>
          <a:lstStyle/>
          <a:p>
            <a:pPr indent="0" marL="0">
              <a:lnSpc>
                <a:spcPts val="1900"/>
              </a:lnSpc>
              <a:buNone/>
            </a:pPr>
            <a:r>
              <a:rPr lang="en-US" sz="1350" dirty="0">
                <a:solidFill>
                  <a:srgbClr val="E6EDF3"/>
                </a:solidFill>
                <a:latin typeface="Calibri" pitchFamily="34" charset="0"/>
                <a:ea typeface="Calibri" pitchFamily="34" charset="-122"/>
                <a:cs typeface="Calibri" pitchFamily="34" charset="-120"/>
              </a:rPr>
              <a:t>A URL, approved</a:t>
            </a:r>
            <a:endParaRPr lang="en-US" sz="1350" dirty="0"/>
          </a:p>
          <a:p>
            <a:pPr indent="0" marL="0">
              <a:lnSpc>
                <a:spcPts val="1900"/>
              </a:lnSpc>
              <a:buNone/>
            </a:pPr>
            <a:r>
              <a:rPr lang="en-US" sz="1350" dirty="0">
                <a:solidFill>
                  <a:srgbClr val="E6EDF3"/>
                </a:solidFill>
                <a:latin typeface="Calibri" pitchFamily="34" charset="0"/>
                <a:ea typeface="Calibri" pitchFamily="34" charset="-122"/>
                <a:cs typeface="Calibri" pitchFamily="34" charset="-120"/>
              </a:rPr>
              <a:t>permanently</a:t>
            </a:r>
            <a:endParaRPr lang="en-US" sz="1350" dirty="0"/>
          </a:p>
        </p:txBody>
      </p:sp>
      <p:sp>
        <p:nvSpPr>
          <p:cNvPr id="12" name="Text 9"/>
          <p:cNvSpPr txBox="1"/>
          <p:nvPr/>
        </p:nvSpPr>
        <p:spPr>
          <a:xfrm>
            <a:off x="4343400" y="2743200"/>
            <a:ext cx="3657600" cy="1143000"/>
          </a:xfrm>
          <a:prstGeom prst="rect">
            <a:avLst/>
          </a:prstGeom>
          <a:noFill/>
          <a:ln/>
        </p:spPr>
        <p:txBody>
          <a:bodyPr wrap="square" lIns="0" tIns="0" rIns="0" bIns="0" rtlCol="0" anchor="ctr"/>
          <a:lstStyle/>
          <a:p>
            <a:pPr indent="0" marL="0">
              <a:buNone/>
            </a:pPr>
            <a:r>
              <a:rPr lang="en-US" sz="1250" dirty="0">
                <a:solidFill>
                  <a:srgbClr val="8B949E"/>
                </a:solidFill>
                <a:latin typeface="Courier New" pitchFamily="34" charset="0"/>
                <a:ea typeface="Courier New" pitchFamily="34" charset="-122"/>
                <a:cs typeface="Courier New" pitchFamily="34" charset="-120"/>
              </a:rPr>
              <a:t>settings.json · allowedUrls</a:t>
            </a:r>
            <a:endParaRPr lang="en-US" sz="1250" dirty="0"/>
          </a:p>
        </p:txBody>
      </p:sp>
      <p:sp>
        <p:nvSpPr>
          <p:cNvPr id="13" name="Text 10"/>
          <p:cNvSpPr txBox="1"/>
          <p:nvPr/>
        </p:nvSpPr>
        <p:spPr>
          <a:xfrm>
            <a:off x="8092440" y="2743200"/>
            <a:ext cx="3200400" cy="1143000"/>
          </a:xfrm>
          <a:prstGeom prst="rect">
            <a:avLst/>
          </a:prstGeom>
          <a:noFill/>
          <a:ln/>
        </p:spPr>
        <p:txBody>
          <a:bodyPr wrap="square" lIns="0" tIns="0" rIns="0" bIns="0" rtlCol="0" anchor="ctr"/>
          <a:lstStyle/>
          <a:p>
            <a:pPr algn="r" indent="0" marL="0">
              <a:buNone/>
            </a:pPr>
            <a:r>
              <a:rPr lang="en-US" sz="1400" b="1" dirty="0">
                <a:solidFill>
                  <a:srgbClr val="F85149"/>
                </a:solidFill>
                <a:latin typeface="Arial" pitchFamily="34" charset="0"/>
                <a:ea typeface="Arial" pitchFamily="34" charset="-122"/>
                <a:cs typeface="Arial" pitchFamily="34" charset="-120"/>
              </a:rPr>
              <a:t>Every session, forever</a:t>
            </a:r>
            <a:endParaRPr lang="en-US" sz="1400" dirty="0"/>
          </a:p>
        </p:txBody>
      </p:sp>
      <p:sp>
        <p:nvSpPr>
          <p:cNvPr id="14" name="Shape 11"/>
          <p:cNvSpPr/>
          <p:nvPr/>
        </p:nvSpPr>
        <p:spPr>
          <a:xfrm>
            <a:off x="594360" y="4023360"/>
            <a:ext cx="10972800" cy="1143000"/>
          </a:xfrm>
          <a:prstGeom prst="roundRect">
            <a:avLst>
              <a:gd name="adj" fmla="val 4000"/>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5" name="Text 12"/>
          <p:cNvSpPr txBox="1"/>
          <p:nvPr/>
        </p:nvSpPr>
        <p:spPr>
          <a:xfrm>
            <a:off x="914400" y="4023360"/>
            <a:ext cx="3200400" cy="1143000"/>
          </a:xfrm>
          <a:prstGeom prst="rect">
            <a:avLst/>
          </a:prstGeom>
          <a:noFill/>
          <a:ln/>
        </p:spPr>
        <p:txBody>
          <a:bodyPr wrap="square" lIns="0" tIns="0" rIns="0" bIns="0" rtlCol="0" anchor="ctr"/>
          <a:lstStyle/>
          <a:p>
            <a:pPr indent="0" marL="0">
              <a:lnSpc>
                <a:spcPts val="1900"/>
              </a:lnSpc>
              <a:buNone/>
            </a:pPr>
            <a:r>
              <a:rPr lang="en-US" sz="1350" dirty="0">
                <a:solidFill>
                  <a:srgbClr val="E6EDF3"/>
                </a:solidFill>
                <a:latin typeface="Calibri" pitchFamily="34" charset="0"/>
                <a:ea typeface="Calibri" pitchFamily="34" charset="-122"/>
                <a:cs typeface="Calibri" pitchFamily="34" charset="-120"/>
              </a:rPr>
              <a:t>Anything passed as</a:t>
            </a:r>
            <a:endParaRPr lang="en-US" sz="1350" dirty="0"/>
          </a:p>
          <a:p>
            <a:pPr indent="0" marL="0">
              <a:lnSpc>
                <a:spcPts val="1900"/>
              </a:lnSpc>
              <a:buNone/>
            </a:pPr>
            <a:r>
              <a:rPr lang="en-US" sz="1350" dirty="0">
                <a:solidFill>
                  <a:srgbClr val="E6EDF3"/>
                </a:solidFill>
                <a:latin typeface="Calibri" pitchFamily="34" charset="0"/>
                <a:ea typeface="Calibri" pitchFamily="34" charset="-122"/>
                <a:cs typeface="Calibri" pitchFamily="34" charset="-120"/>
              </a:rPr>
              <a:t>a CLI flag</a:t>
            </a:r>
            <a:endParaRPr lang="en-US" sz="1350" dirty="0"/>
          </a:p>
        </p:txBody>
      </p:sp>
      <p:sp>
        <p:nvSpPr>
          <p:cNvPr id="16" name="Text 13"/>
          <p:cNvSpPr txBox="1"/>
          <p:nvPr/>
        </p:nvSpPr>
        <p:spPr>
          <a:xfrm>
            <a:off x="4343400" y="4023360"/>
            <a:ext cx="3657600" cy="1143000"/>
          </a:xfrm>
          <a:prstGeom prst="rect">
            <a:avLst/>
          </a:prstGeom>
          <a:noFill/>
          <a:ln/>
        </p:spPr>
        <p:txBody>
          <a:bodyPr wrap="square" lIns="0" tIns="0" rIns="0" bIns="0" rtlCol="0" anchor="ctr"/>
          <a:lstStyle/>
          <a:p>
            <a:pPr indent="0" marL="0">
              <a:buNone/>
            </a:pPr>
            <a:r>
              <a:rPr lang="en-US" sz="1250" dirty="0">
                <a:solidFill>
                  <a:srgbClr val="8B949E"/>
                </a:solidFill>
                <a:latin typeface="Courier New" pitchFamily="34" charset="0"/>
                <a:ea typeface="Courier New" pitchFamily="34" charset="-122"/>
                <a:cs typeface="Courier New" pitchFamily="34" charset="-120"/>
              </a:rPr>
              <a:t>not written to disk</a:t>
            </a:r>
            <a:endParaRPr lang="en-US" sz="1250" dirty="0"/>
          </a:p>
        </p:txBody>
      </p:sp>
      <p:sp>
        <p:nvSpPr>
          <p:cNvPr id="17" name="Text 14"/>
          <p:cNvSpPr txBox="1"/>
          <p:nvPr/>
        </p:nvSpPr>
        <p:spPr>
          <a:xfrm>
            <a:off x="8092440" y="4023360"/>
            <a:ext cx="3200400" cy="1143000"/>
          </a:xfrm>
          <a:prstGeom prst="rect">
            <a:avLst/>
          </a:prstGeom>
          <a:noFill/>
          <a:ln/>
        </p:spPr>
        <p:txBody>
          <a:bodyPr wrap="square" lIns="0" tIns="0" rIns="0" bIns="0" rtlCol="0" anchor="ctr"/>
          <a:lstStyle/>
          <a:p>
            <a:pPr algn="r" indent="0" marL="0">
              <a:buNone/>
            </a:pPr>
            <a:r>
              <a:rPr lang="en-US" sz="1400" b="1" dirty="0">
                <a:solidFill>
                  <a:srgbClr val="3FB950"/>
                </a:solidFill>
                <a:latin typeface="Arial" pitchFamily="34" charset="0"/>
                <a:ea typeface="Arial" pitchFamily="34" charset="-122"/>
                <a:cs typeface="Arial" pitchFamily="34" charset="-120"/>
              </a:rPr>
              <a:t>This session only</a:t>
            </a:r>
            <a:endParaRPr lang="en-US" sz="1400" dirty="0"/>
          </a:p>
        </p:txBody>
      </p:sp>
      <p:sp>
        <p:nvSpPr>
          <p:cNvPr id="18" name="Text 15"/>
          <p:cNvSpPr txBox="1"/>
          <p:nvPr/>
        </p:nvSpPr>
        <p:spPr>
          <a:xfrm>
            <a:off x="594360" y="5440680"/>
            <a:ext cx="10972800" cy="365760"/>
          </a:xfrm>
          <a:prstGeom prst="rect">
            <a:avLst/>
          </a:prstGeom>
          <a:noFill/>
          <a:ln/>
        </p:spPr>
        <p:txBody>
          <a:bodyPr wrap="square" lIns="0" tIns="0" rIns="0" bIns="0" rtlCol="0" anchor="ctr"/>
          <a:lstStyle/>
          <a:p>
            <a:pPr indent="0" marL="0">
              <a:buNone/>
            </a:pPr>
            <a:r>
              <a:rPr lang="en-US" sz="1500" i="1" dirty="0">
                <a:solidFill>
                  <a:srgbClr val="F0883E"/>
                </a:solidFill>
                <a:latin typeface="Calibri" pitchFamily="34" charset="0"/>
                <a:ea typeface="Calibri" pitchFamily="34" charset="-122"/>
                <a:cs typeface="Calibri" pitchFamily="34" charset="-120"/>
              </a:rPr>
              <a:t>Tool approvals are scoped to a repo. URL approvals are global. Nothing reminds you.</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475488"/>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475488"/>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1051560" y="384048"/>
            <a:ext cx="10515600" cy="566928"/>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Deny rules match patterns, not intent</a:t>
            </a:r>
            <a:endParaRPr lang="en-US" sz="3000" dirty="0"/>
          </a:p>
        </p:txBody>
      </p:sp>
      <p:sp>
        <p:nvSpPr>
          <p:cNvPr id="6" name="Shape 3"/>
          <p:cNvSpPr/>
          <p:nvPr/>
        </p:nvSpPr>
        <p:spPr>
          <a:xfrm>
            <a:off x="594360" y="1417320"/>
            <a:ext cx="10972800" cy="731520"/>
          </a:xfrm>
          <a:prstGeom prst="roundRect">
            <a:avLst>
              <a:gd name="adj" fmla="val 6250"/>
            </a:avLst>
          </a:prstGeom>
          <a:solidFill>
            <a:srgbClr val="010409"/>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7" name="Text 4"/>
          <p:cNvSpPr txBox="1"/>
          <p:nvPr/>
        </p:nvSpPr>
        <p:spPr>
          <a:xfrm>
            <a:off x="832104" y="1600200"/>
            <a:ext cx="10515600" cy="365760"/>
          </a:xfrm>
          <a:prstGeom prst="rect">
            <a:avLst/>
          </a:prstGeom>
          <a:noFill/>
          <a:ln/>
        </p:spPr>
        <p:txBody>
          <a:bodyPr wrap="square" lIns="0" tIns="0" rIns="0" bIns="0" rtlCol="0" anchor="t"/>
          <a:lstStyle/>
          <a:p>
            <a:pPr algn="l" indent="0" marL="0">
              <a:lnSpc>
                <a:spcPts val="2400"/>
              </a:lnSpc>
              <a:buNone/>
            </a:pPr>
            <a:r>
              <a:rPr lang="en-US" sz="1600" dirty="0">
                <a:solidFill>
                  <a:srgbClr val="F85149"/>
                </a:solidFill>
                <a:latin typeface="Courier New" pitchFamily="34" charset="0"/>
                <a:ea typeface="Courier New" pitchFamily="34" charset="-122"/>
                <a:cs typeface="Courier New" pitchFamily="34" charset="-120"/>
              </a:rPr>
              <a:t>--deny-tool='shell(terraform apply)'</a:t>
            </a:r>
            <a:endParaRPr lang="en-US" sz="1600" dirty="0"/>
          </a:p>
        </p:txBody>
      </p:sp>
      <p:sp>
        <p:nvSpPr>
          <p:cNvPr id="8" name="Text 5"/>
          <p:cNvSpPr txBox="1"/>
          <p:nvPr/>
        </p:nvSpPr>
        <p:spPr>
          <a:xfrm>
            <a:off x="594360" y="2331720"/>
            <a:ext cx="10972800" cy="365760"/>
          </a:xfrm>
          <a:prstGeom prst="rect">
            <a:avLst/>
          </a:prstGeom>
          <a:noFill/>
          <a:ln/>
        </p:spPr>
        <p:txBody>
          <a:bodyPr wrap="square" lIns="0" tIns="0" rIns="0" bIns="0" rtlCol="0" anchor="ctr"/>
          <a:lstStyle/>
          <a:p>
            <a:pPr indent="0" marL="0">
              <a:buNone/>
            </a:pPr>
            <a:r>
              <a:rPr lang="en-US" sz="1700" b="1" dirty="0">
                <a:solidFill>
                  <a:srgbClr val="E6EDF3"/>
                </a:solidFill>
                <a:latin typeface="Arial" pitchFamily="34" charset="0"/>
                <a:ea typeface="Arial" pitchFamily="34" charset="-122"/>
                <a:cs typeface="Arial" pitchFamily="34" charset="-120"/>
              </a:rPr>
              <a:t>Does it also stop…</a:t>
            </a:r>
            <a:endParaRPr lang="en-US" sz="1700" dirty="0"/>
          </a:p>
        </p:txBody>
      </p:sp>
      <p:sp>
        <p:nvSpPr>
          <p:cNvPr id="9" name="Shape 6"/>
          <p:cNvSpPr/>
          <p:nvPr/>
        </p:nvSpPr>
        <p:spPr>
          <a:xfrm>
            <a:off x="594360" y="2788920"/>
            <a:ext cx="10972800" cy="566928"/>
          </a:xfrm>
          <a:prstGeom prst="roundRect">
            <a:avLst>
              <a:gd name="adj" fmla="val 8065"/>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0" name="Text 7"/>
          <p:cNvSpPr txBox="1"/>
          <p:nvPr/>
        </p:nvSpPr>
        <p:spPr>
          <a:xfrm>
            <a:off x="822960" y="2788920"/>
            <a:ext cx="365760" cy="566928"/>
          </a:xfrm>
          <a:prstGeom prst="rect">
            <a:avLst/>
          </a:prstGeom>
          <a:noFill/>
          <a:ln/>
        </p:spPr>
        <p:txBody>
          <a:bodyPr wrap="square" lIns="0" tIns="0" rIns="0" bIns="0" rtlCol="0" anchor="ctr"/>
          <a:lstStyle/>
          <a:p>
            <a:pPr algn="ctr" indent="0" marL="0">
              <a:buNone/>
            </a:pPr>
            <a:r>
              <a:rPr lang="en-US" sz="1700" b="1" dirty="0">
                <a:solidFill>
                  <a:srgbClr val="F0883E"/>
                </a:solidFill>
                <a:latin typeface="Arial" pitchFamily="34" charset="0"/>
                <a:ea typeface="Arial" pitchFamily="34" charset="-122"/>
                <a:cs typeface="Arial" pitchFamily="34" charset="-120"/>
              </a:rPr>
              <a:t>?</a:t>
            </a:r>
            <a:endParaRPr lang="en-US" sz="1700" dirty="0"/>
          </a:p>
        </p:txBody>
      </p:sp>
      <p:sp>
        <p:nvSpPr>
          <p:cNvPr id="11" name="Text 8"/>
          <p:cNvSpPr txBox="1"/>
          <p:nvPr/>
        </p:nvSpPr>
        <p:spPr>
          <a:xfrm>
            <a:off x="1325880" y="2788920"/>
            <a:ext cx="9966960" cy="566928"/>
          </a:xfrm>
          <a:prstGeom prst="rect">
            <a:avLst/>
          </a:prstGeom>
          <a:noFill/>
          <a:ln/>
        </p:spPr>
        <p:txBody>
          <a:bodyPr wrap="square" lIns="0" tIns="0" rIns="0" bIns="0" rtlCol="0" anchor="ctr"/>
          <a:lstStyle/>
          <a:p>
            <a:pPr indent="0" marL="0">
              <a:buNone/>
            </a:pPr>
            <a:r>
              <a:rPr lang="en-US" sz="1350" dirty="0">
                <a:solidFill>
                  <a:srgbClr val="E6EDF3"/>
                </a:solidFill>
                <a:latin typeface="Courier New" pitchFamily="34" charset="0"/>
                <a:ea typeface="Courier New" pitchFamily="34" charset="-122"/>
                <a:cs typeface="Courier New" pitchFamily="34" charset="-120"/>
              </a:rPr>
              <a:t>bash -c 'terraform apply'</a:t>
            </a:r>
            <a:endParaRPr lang="en-US" sz="1350" dirty="0"/>
          </a:p>
        </p:txBody>
      </p:sp>
      <p:sp>
        <p:nvSpPr>
          <p:cNvPr id="12" name="Shape 9"/>
          <p:cNvSpPr/>
          <p:nvPr/>
        </p:nvSpPr>
        <p:spPr>
          <a:xfrm>
            <a:off x="594360" y="3447288"/>
            <a:ext cx="10972800" cy="566928"/>
          </a:xfrm>
          <a:prstGeom prst="roundRect">
            <a:avLst>
              <a:gd name="adj" fmla="val 8065"/>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3" name="Text 10"/>
          <p:cNvSpPr txBox="1"/>
          <p:nvPr/>
        </p:nvSpPr>
        <p:spPr>
          <a:xfrm>
            <a:off x="822960" y="3447288"/>
            <a:ext cx="365760" cy="566928"/>
          </a:xfrm>
          <a:prstGeom prst="rect">
            <a:avLst/>
          </a:prstGeom>
          <a:noFill/>
          <a:ln/>
        </p:spPr>
        <p:txBody>
          <a:bodyPr wrap="square" lIns="0" tIns="0" rIns="0" bIns="0" rtlCol="0" anchor="ctr"/>
          <a:lstStyle/>
          <a:p>
            <a:pPr algn="ctr" indent="0" marL="0">
              <a:buNone/>
            </a:pPr>
            <a:r>
              <a:rPr lang="en-US" sz="1700" b="1" dirty="0">
                <a:solidFill>
                  <a:srgbClr val="F0883E"/>
                </a:solidFill>
                <a:latin typeface="Arial" pitchFamily="34" charset="0"/>
                <a:ea typeface="Arial" pitchFamily="34" charset="-122"/>
                <a:cs typeface="Arial" pitchFamily="34" charset="-120"/>
              </a:rPr>
              <a:t>?</a:t>
            </a:r>
            <a:endParaRPr lang="en-US" sz="1700" dirty="0"/>
          </a:p>
        </p:txBody>
      </p:sp>
      <p:sp>
        <p:nvSpPr>
          <p:cNvPr id="14" name="Text 11"/>
          <p:cNvSpPr txBox="1"/>
          <p:nvPr/>
        </p:nvSpPr>
        <p:spPr>
          <a:xfrm>
            <a:off x="1325880" y="3447288"/>
            <a:ext cx="9966960" cy="566928"/>
          </a:xfrm>
          <a:prstGeom prst="rect">
            <a:avLst/>
          </a:prstGeom>
          <a:noFill/>
          <a:ln/>
        </p:spPr>
        <p:txBody>
          <a:bodyPr wrap="square" lIns="0" tIns="0" rIns="0" bIns="0" rtlCol="0" anchor="ctr"/>
          <a:lstStyle/>
          <a:p>
            <a:pPr indent="0" marL="0">
              <a:buNone/>
            </a:pPr>
            <a:r>
              <a:rPr lang="en-US" sz="1350" dirty="0">
                <a:solidFill>
                  <a:srgbClr val="E6EDF3"/>
                </a:solidFill>
                <a:latin typeface="Courier New" pitchFamily="34" charset="0"/>
                <a:ea typeface="Courier New" pitchFamily="34" charset="-122"/>
                <a:cs typeface="Courier New" pitchFamily="34" charset="-120"/>
              </a:rPr>
              <a:t>a script the agent wrote two steps ago</a:t>
            </a:r>
            <a:endParaRPr lang="en-US" sz="1350" dirty="0"/>
          </a:p>
        </p:txBody>
      </p:sp>
      <p:sp>
        <p:nvSpPr>
          <p:cNvPr id="15" name="Shape 12"/>
          <p:cNvSpPr/>
          <p:nvPr/>
        </p:nvSpPr>
        <p:spPr>
          <a:xfrm>
            <a:off x="594360" y="4105656"/>
            <a:ext cx="10972800" cy="566928"/>
          </a:xfrm>
          <a:prstGeom prst="roundRect">
            <a:avLst>
              <a:gd name="adj" fmla="val 8065"/>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6" name="Text 13"/>
          <p:cNvSpPr txBox="1"/>
          <p:nvPr/>
        </p:nvSpPr>
        <p:spPr>
          <a:xfrm>
            <a:off x="822960" y="4105656"/>
            <a:ext cx="365760" cy="566928"/>
          </a:xfrm>
          <a:prstGeom prst="rect">
            <a:avLst/>
          </a:prstGeom>
          <a:noFill/>
          <a:ln/>
        </p:spPr>
        <p:txBody>
          <a:bodyPr wrap="square" lIns="0" tIns="0" rIns="0" bIns="0" rtlCol="0" anchor="ctr"/>
          <a:lstStyle/>
          <a:p>
            <a:pPr algn="ctr" indent="0" marL="0">
              <a:buNone/>
            </a:pPr>
            <a:r>
              <a:rPr lang="en-US" sz="1700" b="1" dirty="0">
                <a:solidFill>
                  <a:srgbClr val="F0883E"/>
                </a:solidFill>
                <a:latin typeface="Arial" pitchFamily="34" charset="0"/>
                <a:ea typeface="Arial" pitchFamily="34" charset="-122"/>
                <a:cs typeface="Arial" pitchFamily="34" charset="-120"/>
              </a:rPr>
              <a:t>?</a:t>
            </a:r>
            <a:endParaRPr lang="en-US" sz="1700" dirty="0"/>
          </a:p>
        </p:txBody>
      </p:sp>
      <p:sp>
        <p:nvSpPr>
          <p:cNvPr id="17" name="Text 14"/>
          <p:cNvSpPr txBox="1"/>
          <p:nvPr/>
        </p:nvSpPr>
        <p:spPr>
          <a:xfrm>
            <a:off x="1325880" y="4105656"/>
            <a:ext cx="9966960" cy="566928"/>
          </a:xfrm>
          <a:prstGeom prst="rect">
            <a:avLst/>
          </a:prstGeom>
          <a:noFill/>
          <a:ln/>
        </p:spPr>
        <p:txBody>
          <a:bodyPr wrap="square" lIns="0" tIns="0" rIns="0" bIns="0" rtlCol="0" anchor="ctr"/>
          <a:lstStyle/>
          <a:p>
            <a:pPr indent="0" marL="0">
              <a:buNone/>
            </a:pPr>
            <a:r>
              <a:rPr lang="en-US" sz="1350" dirty="0">
                <a:solidFill>
                  <a:srgbClr val="E6EDF3"/>
                </a:solidFill>
                <a:latin typeface="Courier New" pitchFamily="34" charset="0"/>
                <a:ea typeface="Courier New" pitchFamily="34" charset="-122"/>
                <a:cs typeface="Courier New" pitchFamily="34" charset="-120"/>
              </a:rPr>
              <a:t>terragrunt apply</a:t>
            </a:r>
            <a:endParaRPr lang="en-US" sz="1350" dirty="0"/>
          </a:p>
        </p:txBody>
      </p:sp>
      <p:sp>
        <p:nvSpPr>
          <p:cNvPr id="18" name="Shape 15"/>
          <p:cNvSpPr/>
          <p:nvPr/>
        </p:nvSpPr>
        <p:spPr>
          <a:xfrm>
            <a:off x="594360" y="4764024"/>
            <a:ext cx="10972800" cy="566928"/>
          </a:xfrm>
          <a:prstGeom prst="roundRect">
            <a:avLst>
              <a:gd name="adj" fmla="val 8065"/>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9" name="Text 16"/>
          <p:cNvSpPr txBox="1"/>
          <p:nvPr/>
        </p:nvSpPr>
        <p:spPr>
          <a:xfrm>
            <a:off x="822960" y="4764024"/>
            <a:ext cx="365760" cy="566928"/>
          </a:xfrm>
          <a:prstGeom prst="rect">
            <a:avLst/>
          </a:prstGeom>
          <a:noFill/>
          <a:ln/>
        </p:spPr>
        <p:txBody>
          <a:bodyPr wrap="square" lIns="0" tIns="0" rIns="0" bIns="0" rtlCol="0" anchor="ctr"/>
          <a:lstStyle/>
          <a:p>
            <a:pPr algn="ctr" indent="0" marL="0">
              <a:buNone/>
            </a:pPr>
            <a:r>
              <a:rPr lang="en-US" sz="1700" b="1" dirty="0">
                <a:solidFill>
                  <a:srgbClr val="F0883E"/>
                </a:solidFill>
                <a:latin typeface="Arial" pitchFamily="34" charset="0"/>
                <a:ea typeface="Arial" pitchFamily="34" charset="-122"/>
                <a:cs typeface="Arial" pitchFamily="34" charset="-120"/>
              </a:rPr>
              <a:t>?</a:t>
            </a:r>
            <a:endParaRPr lang="en-US" sz="1700" dirty="0"/>
          </a:p>
        </p:txBody>
      </p:sp>
      <p:sp>
        <p:nvSpPr>
          <p:cNvPr id="20" name="Text 17"/>
          <p:cNvSpPr txBox="1"/>
          <p:nvPr/>
        </p:nvSpPr>
        <p:spPr>
          <a:xfrm>
            <a:off x="1325880" y="4764024"/>
            <a:ext cx="9966960" cy="566928"/>
          </a:xfrm>
          <a:prstGeom prst="rect">
            <a:avLst/>
          </a:prstGeom>
          <a:noFill/>
          <a:ln/>
        </p:spPr>
        <p:txBody>
          <a:bodyPr wrap="square" lIns="0" tIns="0" rIns="0" bIns="0" rtlCol="0" anchor="ctr"/>
          <a:lstStyle/>
          <a:p>
            <a:pPr indent="0" marL="0">
              <a:buNone/>
            </a:pPr>
            <a:r>
              <a:rPr lang="en-US" sz="1350" dirty="0">
                <a:solidFill>
                  <a:srgbClr val="E6EDF3"/>
                </a:solidFill>
                <a:latin typeface="Courier New" pitchFamily="34" charset="0"/>
                <a:ea typeface="Courier New" pitchFamily="34" charset="-122"/>
                <a:cs typeface="Courier New" pitchFamily="34" charset="-120"/>
              </a:rPr>
              <a:t>an MCP server calling the GCP API directly</a:t>
            </a:r>
            <a:endParaRPr lang="en-US" sz="1350" dirty="0"/>
          </a:p>
        </p:txBody>
      </p:sp>
      <p:sp>
        <p:nvSpPr>
          <p:cNvPr id="21" name="Text 18"/>
          <p:cNvSpPr txBox="1"/>
          <p:nvPr/>
        </p:nvSpPr>
        <p:spPr>
          <a:xfrm>
            <a:off x="594360" y="5486400"/>
            <a:ext cx="10972800" cy="365760"/>
          </a:xfrm>
          <a:prstGeom prst="rect">
            <a:avLst/>
          </a:prstGeom>
          <a:noFill/>
          <a:ln/>
        </p:spPr>
        <p:txBody>
          <a:bodyPr wrap="square" lIns="0" tIns="0" rIns="0" bIns="0" rtlCol="0" anchor="ctr"/>
          <a:lstStyle/>
          <a:p>
            <a:pPr indent="0" marL="0">
              <a:buNone/>
            </a:pPr>
            <a:r>
              <a:rPr lang="en-US" sz="1300" b="1" dirty="0">
                <a:solidFill>
                  <a:srgbClr val="F0883E"/>
                </a:solidFill>
                <a:latin typeface="Calibri" pitchFamily="34" charset="0"/>
                <a:ea typeface="Calibri" pitchFamily="34" charset="-122"/>
                <a:cs typeface="Calibri" pitchFamily="34" charset="-120"/>
              </a:rPr>
              <a:t>Wildcards match subcommands.  </a:t>
            </a:r>
            <a:pPr indent="0" marL="0">
              <a:buNone/>
            </a:pPr>
            <a:r>
              <a:rPr lang="en-US" sz="1300" dirty="0">
                <a:solidFill>
                  <a:srgbClr val="E6EDF3"/>
                </a:solidFill>
                <a:latin typeface="Courier New" pitchFamily="34" charset="0"/>
                <a:ea typeface="Courier New" pitchFamily="34" charset="-122"/>
                <a:cs typeface="Courier New" pitchFamily="34" charset="-120"/>
              </a:rPr>
              <a:t>shell(gcloud:*)</a:t>
            </a:r>
            <a:pPr indent="0" marL="0">
              <a:buNone/>
            </a:pPr>
            <a:r>
              <a:rPr lang="en-US" sz="1300" dirty="0">
                <a:solidFill>
                  <a:srgbClr val="8B949E"/>
                </a:solidFill>
                <a:latin typeface="Calibri" pitchFamily="34" charset="0"/>
                <a:ea typeface="Calibri" pitchFamily="34" charset="-122"/>
                <a:cs typeface="Calibri" pitchFamily="34" charset="-120"/>
              </a:rPr>
              <a:t> is every subcommand. A bare </a:t>
            </a:r>
            <a:pPr indent="0" marL="0">
              <a:buNone/>
            </a:pPr>
            <a:r>
              <a:rPr lang="en-US" sz="1300" dirty="0">
                <a:solidFill>
                  <a:srgbClr val="E6EDF3"/>
                </a:solidFill>
                <a:latin typeface="Courier New" pitchFamily="34" charset="0"/>
                <a:ea typeface="Courier New" pitchFamily="34" charset="-122"/>
                <a:cs typeface="Courier New" pitchFamily="34" charset="-120"/>
              </a:rPr>
              <a:t>shell(gcloud)</a:t>
            </a:r>
            <a:pPr indent="0" marL="0">
              <a:buNone/>
            </a:pPr>
            <a:r>
              <a:rPr lang="en-US" sz="1300" dirty="0">
                <a:solidFill>
                  <a:srgbClr val="8B949E"/>
                </a:solidFill>
                <a:latin typeface="Calibri" pitchFamily="34" charset="0"/>
                <a:ea typeface="Calibri" pitchFamily="34" charset="-122"/>
                <a:cs typeface="Calibri" pitchFamily="34" charset="-120"/>
              </a:rPr>
              <a:t> is narrower.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3" name="Text 0"/>
          <p:cNvSpPr txBox="1"/>
          <p:nvPr/>
        </p:nvSpPr>
        <p:spPr>
          <a:xfrm>
            <a:off x="594360" y="1828800"/>
            <a:ext cx="10058400" cy="2743200"/>
          </a:xfrm>
          <a:prstGeom prst="rect">
            <a:avLst/>
          </a:prstGeom>
          <a:noFill/>
          <a:ln/>
        </p:spPr>
        <p:txBody>
          <a:bodyPr wrap="square" lIns="0" tIns="0" rIns="0" bIns="0" rtlCol="0" anchor="ctr"/>
          <a:lstStyle/>
          <a:p>
            <a:pPr indent="0" marL="0">
              <a:lnSpc>
                <a:spcPts val="4800"/>
              </a:lnSpc>
              <a:buNone/>
            </a:pPr>
            <a:r>
              <a:rPr lang="en-US" sz="3600" b="1" dirty="0">
                <a:solidFill>
                  <a:srgbClr val="8B949E"/>
                </a:solidFill>
                <a:latin typeface="Arial" pitchFamily="34" charset="0"/>
                <a:ea typeface="Arial" pitchFamily="34" charset="-122"/>
                <a:cs typeface="Arial" pitchFamily="34" charset="-120"/>
              </a:rPr>
              <a:t>Deny rules are the speed bump</a:t>
            </a:r>
            <a:endParaRPr lang="en-US" sz="3600" dirty="0"/>
          </a:p>
          <a:p>
            <a:pPr indent="0" marL="0">
              <a:lnSpc>
                <a:spcPts val="4800"/>
              </a:lnSpc>
              <a:buNone/>
            </a:pPr>
            <a:r>
              <a:rPr lang="en-US" sz="3600" b="1" dirty="0">
                <a:solidFill>
                  <a:srgbClr val="8B949E"/>
                </a:solidFill>
                <a:latin typeface="Arial" pitchFamily="34" charset="0"/>
                <a:ea typeface="Arial" pitchFamily="34" charset="-122"/>
                <a:cs typeface="Arial" pitchFamily="34" charset="-120"/>
              </a:rPr>
              <a:t>on the honest path.</a:t>
            </a:r>
            <a:endParaRPr lang="en-US" sz="3600" dirty="0"/>
          </a:p>
          <a:p>
            <a:pPr indent="0" marL="0">
              <a:lnSpc>
                <a:spcPts val="4800"/>
              </a:lnSpc>
              <a:buNone/>
            </a:pPr>
            <a:r>
              <a:rPr lang="en-US" sz="1600" b="1" dirty="0">
                <a:solidFill>
                  <a:srgbClr val="000000"/>
                </a:solidFill>
                <a:latin typeface="Arial" pitchFamily="34" charset="0"/>
                <a:ea typeface="Arial" pitchFamily="34" charset="-122"/>
                <a:cs typeface="Arial" pitchFamily="34" charset="-120"/>
              </a:rPr>
              <a:t> </a:t>
            </a:r>
            <a:endParaRPr lang="en-US" sz="3600" dirty="0"/>
          </a:p>
          <a:p>
            <a:pPr indent="0" marL="0">
              <a:lnSpc>
                <a:spcPts val="4800"/>
              </a:lnSpc>
              <a:buNone/>
            </a:pPr>
            <a:r>
              <a:rPr lang="en-US" sz="3600" b="1" dirty="0">
                <a:solidFill>
                  <a:srgbClr val="F0883E"/>
                </a:solidFill>
                <a:latin typeface="Arial" pitchFamily="34" charset="0"/>
                <a:ea typeface="Arial" pitchFamily="34" charset="-122"/>
                <a:cs typeface="Arial" pitchFamily="34" charset="-120"/>
              </a:rPr>
              <a:t>IAM is the wall.</a:t>
            </a:r>
            <a:endParaRPr lang="en-US" sz="3600" dirty="0"/>
          </a:p>
        </p:txBody>
      </p:sp>
      <p:sp>
        <p:nvSpPr>
          <p:cNvPr id="4" name="Text 1"/>
          <p:cNvSpPr txBox="1"/>
          <p:nvPr/>
        </p:nvSpPr>
        <p:spPr>
          <a:xfrm>
            <a:off x="594360" y="5029200"/>
            <a:ext cx="10058400" cy="45720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Everything before this slide was defence in depth. None of it was the boundary.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475488"/>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475488"/>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1051560" y="384048"/>
            <a:ext cx="10515600" cy="566928"/>
          </a:xfrm>
          <a:prstGeom prst="rect">
            <a:avLst/>
          </a:prstGeom>
          <a:noFill/>
          <a:ln/>
        </p:spPr>
        <p:txBody>
          <a:bodyPr wrap="square" lIns="0" tIns="0" rIns="0" bIns="0" rtlCol="0" anchor="ctr"/>
          <a:lstStyle/>
          <a:p>
            <a:pPr algn="l" indent="0" marL="0">
              <a:buNone/>
            </a:pPr>
            <a:r>
              <a:rPr lang="en-US" sz="3000" b="1" dirty="0">
                <a:solidFill>
                  <a:srgbClr val="E6EDF3"/>
                </a:solidFill>
                <a:latin typeface="Arial" pitchFamily="34" charset="0"/>
                <a:ea typeface="Arial" pitchFamily="34" charset="-122"/>
                <a:cs typeface="Arial" pitchFamily="34" charset="-120"/>
              </a:rPr>
              <a:t>What that looks like on GCP</a:t>
            </a:r>
            <a:endParaRPr lang="en-US" sz="3000" dirty="0"/>
          </a:p>
        </p:txBody>
      </p:sp>
      <p:sp>
        <p:nvSpPr>
          <p:cNvPr id="6" name="Shape 3"/>
          <p:cNvSpPr/>
          <p:nvPr/>
        </p:nvSpPr>
        <p:spPr>
          <a:xfrm>
            <a:off x="594360" y="1508760"/>
            <a:ext cx="10972800" cy="960120"/>
          </a:xfrm>
          <a:prstGeom prst="roundRect">
            <a:avLst>
              <a:gd name="adj" fmla="val 4762"/>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7" name="Shape 4"/>
          <p:cNvSpPr/>
          <p:nvPr/>
        </p:nvSpPr>
        <p:spPr>
          <a:xfrm>
            <a:off x="868680" y="1764792"/>
            <a:ext cx="438912" cy="438912"/>
          </a:xfrm>
          <a:prstGeom prst="roundRect">
            <a:avLst>
              <a:gd name="adj" fmla="val 18750"/>
            </a:avLst>
          </a:prstGeom>
          <a:solidFill>
            <a:srgbClr val="0D2818"/>
          </a:solidFill>
          <a:ln w="12700">
            <a:solidFill>
              <a:srgbClr val="3FB950"/>
            </a:solidFill>
            <a:prstDash val="solid"/>
          </a:ln>
        </p:spPr>
      </p:sp>
      <p:sp>
        <p:nvSpPr>
          <p:cNvPr id="8" name="Text 5"/>
          <p:cNvSpPr txBox="1"/>
          <p:nvPr/>
        </p:nvSpPr>
        <p:spPr>
          <a:xfrm>
            <a:off x="868680" y="1764792"/>
            <a:ext cx="438912" cy="438912"/>
          </a:xfrm>
          <a:prstGeom prst="rect">
            <a:avLst/>
          </a:prstGeom>
          <a:noFill/>
          <a:ln/>
        </p:spPr>
        <p:txBody>
          <a:bodyPr wrap="square" lIns="0" tIns="0" rIns="0" bIns="0" rtlCol="0" anchor="ctr"/>
          <a:lstStyle/>
          <a:p>
            <a:pPr algn="ctr" indent="0" marL="0">
              <a:buNone/>
            </a:pPr>
            <a:r>
              <a:rPr lang="en-US" sz="1500" b="1" dirty="0">
                <a:solidFill>
                  <a:srgbClr val="3FB950"/>
                </a:solidFill>
                <a:latin typeface="Courier New" pitchFamily="34" charset="0"/>
                <a:ea typeface="Courier New" pitchFamily="34" charset="-122"/>
                <a:cs typeface="Courier New" pitchFamily="34" charset="-120"/>
              </a:rPr>
              <a:t>1</a:t>
            </a:r>
            <a:endParaRPr lang="en-US" sz="1500" dirty="0"/>
          </a:p>
        </p:txBody>
      </p:sp>
      <p:sp>
        <p:nvSpPr>
          <p:cNvPr id="9" name="Text 6"/>
          <p:cNvSpPr txBox="1"/>
          <p:nvPr/>
        </p:nvSpPr>
        <p:spPr>
          <a:xfrm>
            <a:off x="1527048" y="1655064"/>
            <a:ext cx="3017520" cy="347472"/>
          </a:xfrm>
          <a:prstGeom prst="rect">
            <a:avLst/>
          </a:prstGeom>
          <a:noFill/>
          <a:ln/>
        </p:spPr>
        <p:txBody>
          <a:bodyPr wrap="square" lIns="0" tIns="0" rIns="0" bIns="0" rtlCol="0" anchor="ctr"/>
          <a:lstStyle/>
          <a:p>
            <a:pPr indent="0" marL="0">
              <a:buNone/>
            </a:pPr>
            <a:r>
              <a:rPr lang="en-US" sz="1550" b="1" dirty="0">
                <a:solidFill>
                  <a:srgbClr val="E6EDF3"/>
                </a:solidFill>
                <a:latin typeface="Arial" pitchFamily="34" charset="0"/>
                <a:ea typeface="Arial" pitchFamily="34" charset="-122"/>
                <a:cs typeface="Arial" pitchFamily="34" charset="-120"/>
              </a:rPr>
              <a:t>Never your ADC</a:t>
            </a:r>
            <a:endParaRPr lang="en-US" sz="1550" dirty="0"/>
          </a:p>
        </p:txBody>
      </p:sp>
      <p:sp>
        <p:nvSpPr>
          <p:cNvPr id="10" name="Text 7"/>
          <p:cNvSpPr txBox="1"/>
          <p:nvPr/>
        </p:nvSpPr>
        <p:spPr>
          <a:xfrm>
            <a:off x="1527048" y="2002536"/>
            <a:ext cx="9692640" cy="329184"/>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Do not run the CLI in a shell carrying your personal credentials.</a:t>
            </a:r>
            <a:endParaRPr lang="en-US" sz="1300" dirty="0"/>
          </a:p>
        </p:txBody>
      </p:sp>
      <p:sp>
        <p:nvSpPr>
          <p:cNvPr id="11" name="Shape 8"/>
          <p:cNvSpPr/>
          <p:nvPr/>
        </p:nvSpPr>
        <p:spPr>
          <a:xfrm>
            <a:off x="594360" y="2606040"/>
            <a:ext cx="10972800" cy="960120"/>
          </a:xfrm>
          <a:prstGeom prst="roundRect">
            <a:avLst>
              <a:gd name="adj" fmla="val 4762"/>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2" name="Shape 9"/>
          <p:cNvSpPr/>
          <p:nvPr/>
        </p:nvSpPr>
        <p:spPr>
          <a:xfrm>
            <a:off x="868680" y="2862072"/>
            <a:ext cx="438912" cy="438912"/>
          </a:xfrm>
          <a:prstGeom prst="roundRect">
            <a:avLst>
              <a:gd name="adj" fmla="val 18750"/>
            </a:avLst>
          </a:prstGeom>
          <a:solidFill>
            <a:srgbClr val="0D2818"/>
          </a:solidFill>
          <a:ln w="12700">
            <a:solidFill>
              <a:srgbClr val="3FB950"/>
            </a:solidFill>
            <a:prstDash val="solid"/>
          </a:ln>
        </p:spPr>
      </p:sp>
      <p:sp>
        <p:nvSpPr>
          <p:cNvPr id="13" name="Text 10"/>
          <p:cNvSpPr txBox="1"/>
          <p:nvPr/>
        </p:nvSpPr>
        <p:spPr>
          <a:xfrm>
            <a:off x="868680" y="2862072"/>
            <a:ext cx="438912" cy="438912"/>
          </a:xfrm>
          <a:prstGeom prst="rect">
            <a:avLst/>
          </a:prstGeom>
          <a:noFill/>
          <a:ln/>
        </p:spPr>
        <p:txBody>
          <a:bodyPr wrap="square" lIns="0" tIns="0" rIns="0" bIns="0" rtlCol="0" anchor="ctr"/>
          <a:lstStyle/>
          <a:p>
            <a:pPr algn="ctr" indent="0" marL="0">
              <a:buNone/>
            </a:pPr>
            <a:r>
              <a:rPr lang="en-US" sz="1500" b="1" dirty="0">
                <a:solidFill>
                  <a:srgbClr val="3FB950"/>
                </a:solidFill>
                <a:latin typeface="Courier New" pitchFamily="34" charset="0"/>
                <a:ea typeface="Courier New" pitchFamily="34" charset="-122"/>
                <a:cs typeface="Courier New" pitchFamily="34" charset="-120"/>
              </a:rPr>
              <a:t>2</a:t>
            </a:r>
            <a:endParaRPr lang="en-US" sz="1500" dirty="0"/>
          </a:p>
        </p:txBody>
      </p:sp>
      <p:sp>
        <p:nvSpPr>
          <p:cNvPr id="14" name="Text 11"/>
          <p:cNvSpPr txBox="1"/>
          <p:nvPr/>
        </p:nvSpPr>
        <p:spPr>
          <a:xfrm>
            <a:off x="1527048" y="2752344"/>
            <a:ext cx="3017520" cy="347472"/>
          </a:xfrm>
          <a:prstGeom prst="rect">
            <a:avLst/>
          </a:prstGeom>
          <a:noFill/>
          <a:ln/>
        </p:spPr>
        <p:txBody>
          <a:bodyPr wrap="square" lIns="0" tIns="0" rIns="0" bIns="0" rtlCol="0" anchor="ctr"/>
          <a:lstStyle/>
          <a:p>
            <a:pPr indent="0" marL="0">
              <a:buNone/>
            </a:pPr>
            <a:r>
              <a:rPr lang="en-US" sz="1550" b="1" dirty="0">
                <a:solidFill>
                  <a:srgbClr val="E6EDF3"/>
                </a:solidFill>
                <a:latin typeface="Arial" pitchFamily="34" charset="0"/>
                <a:ea typeface="Arial" pitchFamily="34" charset="-122"/>
                <a:cs typeface="Arial" pitchFamily="34" charset="-120"/>
              </a:rPr>
              <a:t>Impersonate, narrowly</a:t>
            </a:r>
            <a:endParaRPr lang="en-US" sz="1550" dirty="0"/>
          </a:p>
        </p:txBody>
      </p:sp>
      <p:sp>
        <p:nvSpPr>
          <p:cNvPr id="15" name="Text 12"/>
          <p:cNvSpPr txBox="1"/>
          <p:nvPr/>
        </p:nvSpPr>
        <p:spPr>
          <a:xfrm>
            <a:off x="1527048" y="3099816"/>
            <a:ext cx="9692640" cy="329184"/>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A dedicated SA: roles/viewer + roles/logging.viewer, short token lifetime.</a:t>
            </a:r>
            <a:endParaRPr lang="en-US" sz="1300" dirty="0"/>
          </a:p>
        </p:txBody>
      </p:sp>
      <p:sp>
        <p:nvSpPr>
          <p:cNvPr id="16" name="Shape 13"/>
          <p:cNvSpPr/>
          <p:nvPr/>
        </p:nvSpPr>
        <p:spPr>
          <a:xfrm>
            <a:off x="594360" y="3703320"/>
            <a:ext cx="10972800" cy="960120"/>
          </a:xfrm>
          <a:prstGeom prst="roundRect">
            <a:avLst>
              <a:gd name="adj" fmla="val 4762"/>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17" name="Shape 14"/>
          <p:cNvSpPr/>
          <p:nvPr/>
        </p:nvSpPr>
        <p:spPr>
          <a:xfrm>
            <a:off x="868680" y="3959352"/>
            <a:ext cx="438912" cy="438912"/>
          </a:xfrm>
          <a:prstGeom prst="roundRect">
            <a:avLst>
              <a:gd name="adj" fmla="val 18750"/>
            </a:avLst>
          </a:prstGeom>
          <a:solidFill>
            <a:srgbClr val="0D2818"/>
          </a:solidFill>
          <a:ln w="12700">
            <a:solidFill>
              <a:srgbClr val="3FB950"/>
            </a:solidFill>
            <a:prstDash val="solid"/>
          </a:ln>
        </p:spPr>
      </p:sp>
      <p:sp>
        <p:nvSpPr>
          <p:cNvPr id="18" name="Text 15"/>
          <p:cNvSpPr txBox="1"/>
          <p:nvPr/>
        </p:nvSpPr>
        <p:spPr>
          <a:xfrm>
            <a:off x="868680" y="3959352"/>
            <a:ext cx="438912" cy="438912"/>
          </a:xfrm>
          <a:prstGeom prst="rect">
            <a:avLst/>
          </a:prstGeom>
          <a:noFill/>
          <a:ln/>
        </p:spPr>
        <p:txBody>
          <a:bodyPr wrap="square" lIns="0" tIns="0" rIns="0" bIns="0" rtlCol="0" anchor="ctr"/>
          <a:lstStyle/>
          <a:p>
            <a:pPr algn="ctr" indent="0" marL="0">
              <a:buNone/>
            </a:pPr>
            <a:r>
              <a:rPr lang="en-US" sz="1500" b="1" dirty="0">
                <a:solidFill>
                  <a:srgbClr val="3FB950"/>
                </a:solidFill>
                <a:latin typeface="Courier New" pitchFamily="34" charset="0"/>
                <a:ea typeface="Courier New" pitchFamily="34" charset="-122"/>
                <a:cs typeface="Courier New" pitchFamily="34" charset="-120"/>
              </a:rPr>
              <a:t>3</a:t>
            </a:r>
            <a:endParaRPr lang="en-US" sz="1500" dirty="0"/>
          </a:p>
        </p:txBody>
      </p:sp>
      <p:sp>
        <p:nvSpPr>
          <p:cNvPr id="19" name="Text 16"/>
          <p:cNvSpPr txBox="1"/>
          <p:nvPr/>
        </p:nvSpPr>
        <p:spPr>
          <a:xfrm>
            <a:off x="1527048" y="3849624"/>
            <a:ext cx="3017520" cy="347472"/>
          </a:xfrm>
          <a:prstGeom prst="rect">
            <a:avLst/>
          </a:prstGeom>
          <a:noFill/>
          <a:ln/>
        </p:spPr>
        <p:txBody>
          <a:bodyPr wrap="square" lIns="0" tIns="0" rIns="0" bIns="0" rtlCol="0" anchor="ctr"/>
          <a:lstStyle/>
          <a:p>
            <a:pPr indent="0" marL="0">
              <a:buNone/>
            </a:pPr>
            <a:r>
              <a:rPr lang="en-US" sz="1550" b="1" dirty="0">
                <a:solidFill>
                  <a:srgbClr val="E6EDF3"/>
                </a:solidFill>
                <a:latin typeface="Arial" pitchFamily="34" charset="0"/>
                <a:ea typeface="Arial" pitchFamily="34" charset="-122"/>
                <a:cs typeface="Arial" pitchFamily="34" charset="-120"/>
              </a:rPr>
              <a:t>PR-gated changes</a:t>
            </a:r>
            <a:endParaRPr lang="en-US" sz="1550" dirty="0"/>
          </a:p>
        </p:txBody>
      </p:sp>
      <p:sp>
        <p:nvSpPr>
          <p:cNvPr id="20" name="Text 17"/>
          <p:cNvSpPr txBox="1"/>
          <p:nvPr/>
        </p:nvSpPr>
        <p:spPr>
          <a:xfrm>
            <a:off x="1527048" y="4197096"/>
            <a:ext cx="9692640" cy="329184"/>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CI applies, with its own WIF identity that the agent never holds.</a:t>
            </a:r>
            <a:endParaRPr lang="en-US" sz="1300" dirty="0"/>
          </a:p>
        </p:txBody>
      </p:sp>
      <p:sp>
        <p:nvSpPr>
          <p:cNvPr id="21" name="Shape 18"/>
          <p:cNvSpPr/>
          <p:nvPr/>
        </p:nvSpPr>
        <p:spPr>
          <a:xfrm>
            <a:off x="594360" y="4800600"/>
            <a:ext cx="10972800" cy="960120"/>
          </a:xfrm>
          <a:prstGeom prst="roundRect">
            <a:avLst>
              <a:gd name="adj" fmla="val 4762"/>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22" name="Shape 19"/>
          <p:cNvSpPr/>
          <p:nvPr/>
        </p:nvSpPr>
        <p:spPr>
          <a:xfrm>
            <a:off x="868680" y="5056632"/>
            <a:ext cx="438912" cy="438912"/>
          </a:xfrm>
          <a:prstGeom prst="roundRect">
            <a:avLst>
              <a:gd name="adj" fmla="val 18750"/>
            </a:avLst>
          </a:prstGeom>
          <a:solidFill>
            <a:srgbClr val="0D2818"/>
          </a:solidFill>
          <a:ln w="12700">
            <a:solidFill>
              <a:srgbClr val="3FB950"/>
            </a:solidFill>
            <a:prstDash val="solid"/>
          </a:ln>
        </p:spPr>
      </p:sp>
      <p:sp>
        <p:nvSpPr>
          <p:cNvPr id="23" name="Text 20"/>
          <p:cNvSpPr txBox="1"/>
          <p:nvPr/>
        </p:nvSpPr>
        <p:spPr>
          <a:xfrm>
            <a:off x="868680" y="5056632"/>
            <a:ext cx="438912" cy="438912"/>
          </a:xfrm>
          <a:prstGeom prst="rect">
            <a:avLst/>
          </a:prstGeom>
          <a:noFill/>
          <a:ln/>
        </p:spPr>
        <p:txBody>
          <a:bodyPr wrap="square" lIns="0" tIns="0" rIns="0" bIns="0" rtlCol="0" anchor="ctr"/>
          <a:lstStyle/>
          <a:p>
            <a:pPr algn="ctr" indent="0" marL="0">
              <a:buNone/>
            </a:pPr>
            <a:r>
              <a:rPr lang="en-US" sz="1500" b="1" dirty="0">
                <a:solidFill>
                  <a:srgbClr val="3FB950"/>
                </a:solidFill>
                <a:latin typeface="Courier New" pitchFamily="34" charset="0"/>
                <a:ea typeface="Courier New" pitchFamily="34" charset="-122"/>
                <a:cs typeface="Courier New" pitchFamily="34" charset="-120"/>
              </a:rPr>
              <a:t>4</a:t>
            </a:r>
            <a:endParaRPr lang="en-US" sz="1500" dirty="0"/>
          </a:p>
        </p:txBody>
      </p:sp>
      <p:sp>
        <p:nvSpPr>
          <p:cNvPr id="24" name="Text 21"/>
          <p:cNvSpPr txBox="1"/>
          <p:nvPr/>
        </p:nvSpPr>
        <p:spPr>
          <a:xfrm>
            <a:off x="1527048" y="4946904"/>
            <a:ext cx="3017520" cy="347472"/>
          </a:xfrm>
          <a:prstGeom prst="rect">
            <a:avLst/>
          </a:prstGeom>
          <a:noFill/>
          <a:ln/>
        </p:spPr>
        <p:txBody>
          <a:bodyPr wrap="square" lIns="0" tIns="0" rIns="0" bIns="0" rtlCol="0" anchor="ctr"/>
          <a:lstStyle/>
          <a:p>
            <a:pPr indent="0" marL="0">
              <a:buNone/>
            </a:pPr>
            <a:r>
              <a:rPr lang="en-US" sz="1550" b="1" dirty="0">
                <a:solidFill>
                  <a:srgbClr val="E6EDF3"/>
                </a:solidFill>
                <a:latin typeface="Arial" pitchFamily="34" charset="0"/>
                <a:ea typeface="Arial" pitchFamily="34" charset="-122"/>
                <a:cs typeface="Arial" pitchFamily="34" charset="-120"/>
              </a:rPr>
              <a:t>Branch protection</a:t>
            </a:r>
            <a:endParaRPr lang="en-US" sz="1550" dirty="0"/>
          </a:p>
        </p:txBody>
      </p:sp>
      <p:sp>
        <p:nvSpPr>
          <p:cNvPr id="25" name="Text 22"/>
          <p:cNvSpPr txBox="1"/>
          <p:nvPr/>
        </p:nvSpPr>
        <p:spPr>
          <a:xfrm>
            <a:off x="1527048" y="5294376"/>
            <a:ext cx="9692640" cy="329184"/>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Required reviews do more work here than any CLI flag.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3" name="Shape 0"/>
          <p:cNvSpPr/>
          <p:nvPr/>
        </p:nvSpPr>
        <p:spPr>
          <a:xfrm>
            <a:off x="594360" y="1737360"/>
            <a:ext cx="310896" cy="310896"/>
          </a:xfrm>
          <a:prstGeom prst="roundRect">
            <a:avLst>
              <a:gd name="adj" fmla="val 20588"/>
            </a:avLst>
          </a:prstGeom>
          <a:solidFill>
            <a:srgbClr val="F0883E"/>
          </a:solidFill>
          <a:ln w="12700">
            <a:solidFill>
              <a:srgbClr val="F0883E"/>
            </a:solidFill>
            <a:prstDash val="solid"/>
          </a:ln>
        </p:spPr>
      </p:sp>
      <p:sp>
        <p:nvSpPr>
          <p:cNvPr id="4" name="Text 1"/>
          <p:cNvSpPr txBox="1"/>
          <p:nvPr/>
        </p:nvSpPr>
        <p:spPr>
          <a:xfrm>
            <a:off x="594360" y="1737360"/>
            <a:ext cx="310896" cy="310896"/>
          </a:xfrm>
          <a:prstGeom prst="rect">
            <a:avLst/>
          </a:prstGeom>
          <a:noFill/>
          <a:ln/>
        </p:spPr>
        <p:txBody>
          <a:bodyPr wrap="square" lIns="0" tIns="0" rIns="0" bIns="0" rtlCol="0" anchor="ctr"/>
          <a:lstStyle/>
          <a:p>
            <a:pPr algn="ctr" indent="0" marL="0">
              <a:buNone/>
            </a:pPr>
            <a:r>
              <a:rPr lang="en-US" sz="1500" b="1" dirty="0">
                <a:solidFill>
                  <a:srgbClr val="0D1117"/>
                </a:solidFill>
                <a:latin typeface="Courier New" pitchFamily="34" charset="0"/>
                <a:ea typeface="Courier New" pitchFamily="34" charset="-122"/>
                <a:cs typeface="Courier New" pitchFamily="34" charset="-120"/>
              </a:rPr>
              <a:t>$</a:t>
            </a:r>
            <a:endParaRPr lang="en-US" sz="1500" dirty="0"/>
          </a:p>
        </p:txBody>
      </p:sp>
      <p:sp>
        <p:nvSpPr>
          <p:cNvPr id="5" name="Text 2"/>
          <p:cNvSpPr txBox="1"/>
          <p:nvPr/>
        </p:nvSpPr>
        <p:spPr>
          <a:xfrm>
            <a:off x="594360" y="2194560"/>
            <a:ext cx="10058400" cy="1645920"/>
          </a:xfrm>
          <a:prstGeom prst="rect">
            <a:avLst/>
          </a:prstGeom>
          <a:noFill/>
          <a:ln/>
        </p:spPr>
        <p:txBody>
          <a:bodyPr wrap="square" lIns="0" tIns="0" rIns="0" bIns="0" rtlCol="0" anchor="ctr"/>
          <a:lstStyle/>
          <a:p>
            <a:pPr indent="0" marL="0">
              <a:lnSpc>
                <a:spcPts val="4600"/>
              </a:lnSpc>
              <a:buNone/>
            </a:pPr>
            <a:r>
              <a:rPr lang="en-US" sz="3400" b="1" dirty="0">
                <a:solidFill>
                  <a:srgbClr val="E6EDF3"/>
                </a:solidFill>
                <a:latin typeface="Arial" pitchFamily="34" charset="0"/>
                <a:ea typeface="Arial" pitchFamily="34" charset="-122"/>
                <a:cs typeface="Arial" pitchFamily="34" charset="-120"/>
              </a:rPr>
              <a:t>The agent borrows your access.</a:t>
            </a:r>
            <a:endParaRPr lang="en-US" sz="3400" dirty="0"/>
          </a:p>
          <a:p>
            <a:pPr indent="0" marL="0">
              <a:lnSpc>
                <a:spcPts val="4600"/>
              </a:lnSpc>
              <a:buNone/>
            </a:pPr>
            <a:r>
              <a:rPr lang="en-US" sz="3400" b="1" dirty="0">
                <a:solidFill>
                  <a:srgbClr val="F0883E"/>
                </a:solidFill>
                <a:latin typeface="Arial" pitchFamily="34" charset="0"/>
                <a:ea typeface="Arial" pitchFamily="34" charset="-122"/>
                <a:cs typeface="Arial" pitchFamily="34" charset="-120"/>
              </a:rPr>
              <a:t>Scope what it borrows.</a:t>
            </a:r>
            <a:endParaRPr lang="en-US" sz="3400" dirty="0"/>
          </a:p>
        </p:txBody>
      </p:sp>
      <p:sp>
        <p:nvSpPr>
          <p:cNvPr id="6" name="Shape 3"/>
          <p:cNvSpPr/>
          <p:nvPr/>
        </p:nvSpPr>
        <p:spPr>
          <a:xfrm>
            <a:off x="594360" y="4114800"/>
            <a:ext cx="10972800" cy="1371600"/>
          </a:xfrm>
          <a:prstGeom prst="roundRect">
            <a:avLst>
              <a:gd name="adj" fmla="val 3333"/>
            </a:avLst>
          </a:prstGeom>
          <a:solidFill>
            <a:srgbClr val="161B22"/>
          </a:solidFill>
          <a:ln w="12700">
            <a:solidFill>
              <a:srgbClr val="1C2128"/>
            </a:solidFill>
            <a:prstDash val="solid"/>
          </a:ln>
          <a:effectLst>
            <a:outerShdw sx="100000" sy="100000" kx="0" ky="0" algn="bl" rotWithShape="0" blurRad="127000" dist="25400" dir="5400000">
              <a:srgbClr val="000000">
                <a:alpha val="45000"/>
              </a:srgbClr>
            </a:outerShdw>
          </a:effectLst>
        </p:spPr>
      </p:sp>
      <p:sp>
        <p:nvSpPr>
          <p:cNvPr id="7" name="Text 4"/>
          <p:cNvSpPr txBox="1"/>
          <p:nvPr/>
        </p:nvSpPr>
        <p:spPr>
          <a:xfrm>
            <a:off x="960120" y="4315968"/>
            <a:ext cx="10241280" cy="32004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Demos, permission flags and the written guardrails</a:t>
            </a:r>
            <a:endParaRPr lang="en-US" sz="1300" dirty="0"/>
          </a:p>
        </p:txBody>
      </p:sp>
      <p:sp>
        <p:nvSpPr>
          <p:cNvPr id="8" name="Text 5"/>
          <p:cNvSpPr txBox="1"/>
          <p:nvPr/>
        </p:nvSpPr>
        <p:spPr>
          <a:xfrm>
            <a:off x="960120" y="4663440"/>
            <a:ext cx="10241280" cy="411480"/>
          </a:xfrm>
          <a:prstGeom prst="rect">
            <a:avLst/>
          </a:prstGeom>
          <a:noFill/>
          <a:ln/>
        </p:spPr>
        <p:txBody>
          <a:bodyPr wrap="square" lIns="0" tIns="0" rIns="0" bIns="0" rtlCol="0" anchor="ctr"/>
          <a:lstStyle/>
          <a:p>
            <a:pPr indent="0" marL="0">
              <a:buNone/>
            </a:pPr>
            <a:r>
              <a:rPr lang="en-US" sz="1800" dirty="0">
                <a:solidFill>
                  <a:srgbClr val="58A6FF"/>
                </a:solidFill>
                <a:latin typeface="Courier New" pitchFamily="34" charset="0"/>
                <a:ea typeface="Courier New" pitchFamily="34" charset="-122"/>
                <a:cs typeface="Courier New" pitchFamily="34" charset="-120"/>
              </a:rPr>
              <a:t>github.com/  ‹your-handle›  / copilot-cli-real-infra</a:t>
            </a:r>
            <a:endParaRPr lang="en-US" sz="1800" dirty="0"/>
          </a:p>
        </p:txBody>
      </p:sp>
      <p:sp>
        <p:nvSpPr>
          <p:cNvPr id="9" name="Text 6"/>
          <p:cNvSpPr txBox="1"/>
          <p:nvPr/>
        </p:nvSpPr>
        <p:spPr>
          <a:xfrm>
            <a:off x="594360" y="5806440"/>
            <a:ext cx="10972800" cy="32004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Adil Shahzad  ·  productionready.sh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CLI on Real Infrastructure</dc:title>
  <dc:subject>PptxGenJS Presentation</dc:subject>
  <dc:creator>Adil Shahzad</dc:creator>
  <cp:lastModifiedBy>Adil Shahzad</cp:lastModifiedBy>
  <cp:revision>1</cp:revision>
  <dcterms:created xsi:type="dcterms:W3CDTF">2026-09-12T00:24:22Z</dcterms:created>
  <dcterms:modified xsi:type="dcterms:W3CDTF">2026-09-12T00:24:22Z</dcterms:modified>
</cp:coreProperties>
</file>