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Open cold, no housekeeping. Say the claim inside twenty seconds: Copilot CLI has no cloud permissions of its own; I do; it borrows mine. Then set expectations: three demos, then what actually stops it. 20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0:30-1:45. Pause after the claim. The mental model most people carry is wrong: they picture the agent as a thing with its own access and GitHub as the party controlling it. It isn't. The agent never authenticates to GCP. It runs commands as your OS user, in a shell that already holds your ADC, your kubeconfig, your gcloud config.</a:t>
            </a:r>
          </a:p>
          <a:p/>
          <a:p>
            <a:r>
              <a:t>Be precise: this is a claim about ambient authority, not a product limitation. Tools CAN authenticate and mint tokens when reachable credentials allow it. And a remote MCP server runs off your machine with its own identity, so 'borrows your access' understates that case.</a:t>
            </a:r>
          </a:p>
          <a:p/>
          <a:p>
            <a:r>
              <a:t>Once the room accepts this, every later point lands without argument.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1:45-3:15. Walk it bottom-up, not top-down. Start at layer 0 and say plainly: this is the real blast radius, and it is the one layer Copilot has no say over. Then climb.</a:t>
            </a:r>
          </a:p>
          <a:p/>
          <a:p>
            <a:r>
              <a:t>Say out loud that this is a map of controls, not a promise that checks run in this vertical order. They have different enforcement points: a tool list reduces the model's choices, the sandbox constrains operations at the OS, IAM constrains what an authenticated identity may do at the cloud API. Hooks are trusted code you wrote, so they are inside your trust boundary, not a vendor guarantee.</a:t>
            </a:r>
          </a:p>
          <a:p/>
          <a:p>
            <a:r>
              <a:t>The README separates these into seven configurable controls; the slide groups them into five rows for legibility.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3:15-4:15. Two different decisions that people routinely conflate. Visibility decides what the model can select. Permission decides whether you are interrupted.</a:t>
            </a:r>
          </a:p>
          <a:p/>
          <a:p>
            <a:r>
              <a:t>The gotcha is documented in the CLI command reference. Do not claim whether a warning is printed when both are set — the docs do not say, and I have not tested it.</a:t>
            </a:r>
          </a:p>
          <a:p/>
          <a:p>
            <a:r>
              <a:t>One more: hiding a web tool is not network isolation. A visible shell makes network requests. Network policy is a separate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4:15-5:15. This is the one rule with almost no hedge on it, and it makes a real pattern possible: allow broadly for a bounded task, deny the specific foot-guns.</a:t>
            </a:r>
          </a:p>
          <a:p/>
          <a:p>
            <a:r>
              <a:t>The qualification is worth saying aloud rather than burying: the current hooks reference describes a permissionRequest hook returning allow or deny that short-circuits the normal permission engine. So 'deny always wins' is true of the normal rules engine, not of every mechanism. Sandbox escape is the exception that still requires a human.</a:t>
            </a:r>
          </a:p>
          <a:p/>
          <a:p>
            <a:r>
              <a:t>/reset-allowed-tools clears saved tool grants for this location. It does not clear approved URL domains — those are global. Slide 9 territory.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5:15-8:15. Narrate the flags before you hit enter -- that is the slide. Four tools, no shell, no writes, no cloud credentials.</a:t>
            </a:r>
          </a:p>
          <a:p/>
          <a:p>
            <a:r>
              <a:t>Expected diagnosis: the workflow never requested an OIDC token, so the auth step had nothing to exchange. Adding 'id-token: write' fixes this log -- it does not grant access to anything. Provider trust conditions and resource IAM still decide what the token is worth.</a:t>
            </a:r>
          </a:p>
          <a:p/>
          <a:p>
            <a:r>
              <a:t>Park the observation that nothing prompted. It comes back on slide 9.</a:t>
            </a:r>
          </a:p>
          <a:p/>
          <a:p>
            <a:r>
              <a:t>Then the log's last four lines: a planted instruction arriving in contributor build output. The agent read it as information. It could not act on it here because I took the shell away -- a configuration choice, not a property of the tool. Read-only is the input channel.</a:t>
            </a:r>
          </a:p>
          <a:p/>
          <a:p>
            <a:r>
              <a:t>If it stalls for 45 seconds, cut to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8:15-11:45. Point at what is NOT in --allow-tool: writes. So the first edit should prompt, on screen. Approve exactly that one. If no prompt appears, say so -- that is a finding, not something to explain away.</a:t>
            </a:r>
          </a:p>
          <a:p/>
          <a:p>
            <a:r>
              <a:t>Point at the deny list too: each command appears twice. ':*' matches the stem followed by a SPACE, so shell(terraform:*) catches 'terraform apply' but not a bare 'terraform'. Both spellings, or the gap is real.</a:t>
            </a:r>
          </a:p>
          <a:p/>
          <a:p>
            <a:r>
              <a:t>On the diff, in order: the allUsers grant goes, public access prevention becomes explicit, uniform access, versioning on. Number one is the point -- uniform access alone SOUNDS like hardening and would have left the public grant in place.</a:t>
            </a:r>
          </a:p>
          <a:p/>
          <a:p>
            <a:r>
              <a:t>Show the diff in terminal 2: git --no-pager diff -- terraform/main.tf</a:t>
            </a:r>
          </a:p>
          <a:p/>
          <a:p>
            <a:r>
              <a:t>This is a branch. Nothing reached an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11:45-14:45. Three requests, three outcomes, and they must not blur.</a:t>
            </a:r>
          </a:p>
          <a:p/>
          <a:p>
            <a:r>
              <a:t>First the direct-fix request. If it declines from AGENTS.md: that is instruction following, not a permission boundary.</a:t>
            </a:r>
          </a:p>
          <a:p/>
          <a:p>
            <a:r>
              <a:t>Then the probe pair. Both names resolve to the same inert local stub. 'az --version' is allow-listed -- it runs, the marker prints, and that proves the fake binary is real and reachable and that the model does what I ask. 'gcloud --version' is identical in shape and denied.</a:t>
            </a:r>
          </a:p>
          <a:p/>
          <a:p>
            <a:r>
              <a:t>Without the control, a working deny produces no output, and nobody can tell enforcement from a model that quietly declined.</a:t>
            </a:r>
          </a:p>
          <a:p/>
          <a:p>
            <a:r>
              <a:t>If the marker appears on the DENIED probe, the deny missed. Say so.</a:t>
            </a:r>
          </a:p>
          <a:p/>
          <a:p>
            <a:r>
              <a:t>Then /sandbox policy. Do not read it aloud -- point at the denied .env, the writable path, and allowOutbound false.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14:45-16:00. Take apart the approval model from slide 4. Read-only operations are auto-approved, so 'nothing happens without your approval' really means 'nothing DESTRUCTIVE happens without your approval'. Reading is free.</a:t>
            </a:r>
          </a:p>
          <a:p/>
          <a:p>
            <a:r>
              <a:t>Be fair immediately after, and say this out loud: prompting on every grep would make the tool unusable. The default is right. What misleads is the marketing sentence, not the design. Saying that buys you the credibility for the red box.</a:t>
            </a:r>
          </a:p>
          <a:p/>
          <a:p>
            <a:r>
              <a:t>The red box is the strongest fact in the talk. GitHub documents the default as: sandboxed commands write in the working directory and temp folders, while your user profile directory plus system and tool locations are READ-ONLY — meaning readable. So 'cd terraform/' scopes your writes and not your reads, and the repo is not even the boundary; your home directory is in scope by default.</a:t>
            </a:r>
          </a:p>
          <a:p/>
          <a:p>
            <a:r>
              <a:t>That is why this lab's generated policy explicitly denies ~/.aws, ~/.azure, ~/.config/gcloud, ~/.kube and ~/.ssh. Explicit denials are the only thing that removes a path — rules you configure are kept even when a path would otherwise be granted automatically.</a:t>
            </a:r>
          </a:p>
          <a:p/>
          <a:p>
            <a:r>
              <a:t>Everything read also goes to the model service. Decide what belongs in that workflow.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16:00-17:15. Deliver these neutrally. 'Good control, documented edges' is a far stronger and more accurate position than 'it's secure' or 'it's theatre'.</a:t>
            </a:r>
          </a:p>
          <a:p/>
          <a:p>
            <a:r>
              <a:t>Remote MCP servers are the callback to slide 3 — that is why MCP was worth flagging early.</a:t>
            </a:r>
          </a:p>
          <a:p/>
          <a:p>
            <a:r>
              <a:t>Give GitHub the credit out loud, because it is earned and because it is what makes the next slide land instead of reading as an attack. One caveat on the credit: if allowBypass is enabled, a person can opt out for the rest of the session, so inspect that setting too.</a:t>
            </a:r>
          </a:p>
          <a:p/>
          <a:p>
            <a:r>
              <a:t>If someone asks 'isn't this FUD?' — this slide is the answer, plus the fact that I use the tool.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17:15-18:45. The pattern is a string match on a command shape. It is not a semantic understanding of 'do not change infrastructure'.</a:t>
            </a:r>
          </a:p>
          <a:p/>
          <a:p>
            <a:r>
              <a:t>These four are QUESTIONS, not claimed bypasses. I have not run them on a live CLI, and the repo's verification ledger says so. If you have since rehearsed one, give the exact version, command shape and observed result. Otherwise: 'I haven't verified that one.' The room respects that more than a confident wrong answer, and someone in it will know.</a:t>
            </a:r>
          </a:p>
          <a:p/>
          <a:p>
            <a:r>
              <a:t>Syntax point worth thirty seconds, and the docs are specific: ':*' matches the command stem followed by a SPACE. So shell(git:*) catches 'git push' and 'git pull'; it does not catch 'gitea', and it does not catch a bare 'git' with no arguments. That is a matcher, not a policy. Deny both forms — shell(gcloud) and shell(gcloud:*) — or an argument-less invocation falls straight through to an ordinary approval prompt.</a:t>
            </a:r>
          </a:p>
          <a:p/>
          <a:p>
            <a:r>
              <a:t>Then the turn: everything so far was defence in depth. None of it was the boundary. IAM evaluates the identity that actually calls the API. The qualification: only if no stronger credential remains reachable.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18:45-20:00. Close on the thesis, one line, repo on screen.</a:t>
            </a:r>
          </a:p>
          <a:p/>
          <a:p>
            <a:r>
              <a:t>If you have 30 seconds spare, make it actionable: do not run the agent in a shell holding your personal ADC; give it a task-scoped credential minted outside the runtime; put changes through a PR where CI holds its own WIF identity; let branch protection do more work than any CLI flag. If asked about AWS or Azure: same shape — scope the credential, not the agent.</a:t>
            </a:r>
          </a:p>
          <a:p/>
          <a:p>
            <a:r>
              <a:t>Then stop. Leave this slide up for Q&amp;A.</a:t>
            </a:r>
          </a:p>
          <a:p/>
          <a:p>
            <a:r>
              <a:t>Q&amp;A: for anything untested, say 'I haven't verified that one, I'll post the result on the repo' — and then actually do it. Keep employer and customer estate details out of every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14224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14224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596900" y="1828800"/>
            <a:ext cx="10998200" cy="787400"/>
          </a:xfrm>
          <a:prstGeom prst="rect">
            <a:avLst/>
          </a:prstGeom>
          <a:noFill/>
        </p:spPr>
        <p:txBody>
          <a:bodyPr wrap="square" lIns="0" rIns="0" tIns="0" bIns="0" anchor="ctr">
            <a:spAutoFit/>
          </a:bodyPr>
          <a:lstStyle/>
          <a:p>
            <a:pPr algn="l">
              <a:lnSpc>
                <a:spcPct val="115000"/>
              </a:lnSpc>
            </a:pPr>
            <a:r>
              <a:rPr sz="4600" b="1">
                <a:solidFill>
                  <a:srgbClr val="E6EDF3"/>
                </a:solidFill>
                <a:latin typeface="Arial"/>
              </a:rPr>
              <a:t>Copilot CLI on</a:t>
            </a:r>
          </a:p>
        </p:txBody>
      </p:sp>
      <p:sp>
        <p:nvSpPr>
          <p:cNvPr id="5" name="TextBox 4"/>
          <p:cNvSpPr txBox="1"/>
          <p:nvPr/>
        </p:nvSpPr>
        <p:spPr>
          <a:xfrm>
            <a:off x="596900" y="2616200"/>
            <a:ext cx="10998200" cy="787400"/>
          </a:xfrm>
          <a:prstGeom prst="rect">
            <a:avLst/>
          </a:prstGeom>
          <a:noFill/>
        </p:spPr>
        <p:txBody>
          <a:bodyPr wrap="square" lIns="0" rIns="0" tIns="0" bIns="0" anchor="ctr">
            <a:spAutoFit/>
          </a:bodyPr>
          <a:lstStyle/>
          <a:p>
            <a:pPr algn="l">
              <a:lnSpc>
                <a:spcPct val="115000"/>
              </a:lnSpc>
            </a:pPr>
            <a:r>
              <a:rPr sz="4600" b="1">
                <a:solidFill>
                  <a:srgbClr val="F0883E"/>
                </a:solidFill>
                <a:latin typeface="Arial"/>
              </a:rPr>
              <a:t>Real Infrastructure</a:t>
            </a:r>
          </a:p>
        </p:txBody>
      </p:sp>
      <p:sp>
        <p:nvSpPr>
          <p:cNvPr id="6" name="TextBox 5"/>
          <p:cNvSpPr txBox="1"/>
          <p:nvPr/>
        </p:nvSpPr>
        <p:spPr>
          <a:xfrm>
            <a:off x="596900" y="3581400"/>
            <a:ext cx="10998200" cy="381000"/>
          </a:xfrm>
          <a:prstGeom prst="rect">
            <a:avLst/>
          </a:prstGeom>
          <a:noFill/>
        </p:spPr>
        <p:txBody>
          <a:bodyPr wrap="square" lIns="0" rIns="0" tIns="0" bIns="0" anchor="ctr">
            <a:spAutoFit/>
          </a:bodyPr>
          <a:lstStyle/>
          <a:p>
            <a:pPr algn="l">
              <a:lnSpc>
                <a:spcPct val="115000"/>
              </a:lnSpc>
            </a:pPr>
            <a:r>
              <a:rPr sz="2000" b="0">
                <a:solidFill>
                  <a:srgbClr val="8B949E"/>
                </a:solidFill>
                <a:latin typeface="Arial"/>
              </a:rPr>
              <a:t>What it can reach, and what actually stops it</a:t>
            </a:r>
          </a:p>
        </p:txBody>
      </p:sp>
      <p:sp>
        <p:nvSpPr>
          <p:cNvPr id="7" name="Rectangle 6"/>
          <p:cNvSpPr/>
          <p:nvPr/>
        </p:nvSpPr>
        <p:spPr>
          <a:xfrm>
            <a:off x="596900" y="4318000"/>
            <a:ext cx="2032000" cy="381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6900" y="4597400"/>
            <a:ext cx="10998200" cy="3302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Adil Shehzad  ·  DevSecOps Engineer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96900" y="1625600"/>
            <a:ext cx="10998200" cy="2413000"/>
          </a:xfrm>
          <a:prstGeom prst="rect">
            <a:avLst/>
          </a:prstGeom>
          <a:noFill/>
        </p:spPr>
        <p:txBody>
          <a:bodyPr wrap="square" lIns="0" rIns="0" tIns="0" bIns="0" anchor="t">
            <a:spAutoFit/>
          </a:bodyPr>
          <a:lstStyle/>
          <a:p>
            <a:pPr algn="l">
              <a:lnSpc>
                <a:spcPct val="118000"/>
              </a:lnSpc>
            </a:pPr>
            <a:r>
              <a:rPr sz="3800" b="1">
                <a:solidFill>
                  <a:srgbClr val="E6EDF3"/>
                </a:solidFill>
                <a:latin typeface="Arial"/>
              </a:rPr>
              <a:t>Copilot CLI has no cloud</a:t>
            </a:r>
          </a:p>
          <a:p>
            <a:pPr algn="l">
              <a:lnSpc>
                <a:spcPct val="118000"/>
              </a:lnSpc>
            </a:pPr>
            <a:r>
              <a:rPr sz="3800" b="1">
                <a:solidFill>
                  <a:srgbClr val="E6EDF3"/>
                </a:solidFill>
                <a:latin typeface="Arial"/>
              </a:rPr>
              <a:t>permissions of its own.</a:t>
            </a:r>
          </a:p>
          <a:p>
            <a:pPr algn="l">
              <a:lnSpc>
                <a:spcPct val="118000"/>
              </a:lnSpc>
            </a:pPr>
            <a:r>
              <a:rPr sz="3800" b="1">
                <a:solidFill>
                  <a:srgbClr val="E6EDF3"/>
                </a:solidFill>
                <a:latin typeface="Arial"/>
              </a:rPr>
              <a:t>I do. It borrows mine.</a:t>
            </a:r>
          </a:p>
        </p:txBody>
      </p:sp>
      <p:sp>
        <p:nvSpPr>
          <p:cNvPr id="3" name="Rectangle 2"/>
          <p:cNvSpPr/>
          <p:nvPr/>
        </p:nvSpPr>
        <p:spPr>
          <a:xfrm>
            <a:off x="596900" y="4368800"/>
            <a:ext cx="2032000" cy="381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6900" y="4699000"/>
            <a:ext cx="10998200" cy="1016000"/>
          </a:xfrm>
          <a:prstGeom prst="rect">
            <a:avLst/>
          </a:prstGeom>
          <a:noFill/>
        </p:spPr>
        <p:txBody>
          <a:bodyPr wrap="square" lIns="0" rIns="0" tIns="0" bIns="0" anchor="t">
            <a:spAutoFit/>
          </a:bodyPr>
          <a:lstStyle/>
          <a:p>
            <a:pPr algn="l">
              <a:lnSpc>
                <a:spcPct val="145000"/>
              </a:lnSpc>
            </a:pPr>
            <a:r>
              <a:rPr sz="2000" b="0">
                <a:solidFill>
                  <a:srgbClr val="8B949E"/>
                </a:solidFill>
                <a:latin typeface="Arial"/>
              </a:rPr>
              <a:t>Shell tools authenticate as my OS user, with whatever that user can reach.</a:t>
            </a:r>
          </a:p>
          <a:p>
            <a:pPr algn="l">
              <a:lnSpc>
                <a:spcPct val="145000"/>
              </a:lnSpc>
            </a:pPr>
            <a:r>
              <a:rPr sz="2000" b="0">
                <a:solidFill>
                  <a:srgbClr val="8B949E"/>
                </a:solidFill>
                <a:latin typeface="Arial"/>
              </a:rPr>
              <a:t>A remote MCP server may authenticate as something else entirely.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Where the controls live</a:t>
            </a:r>
          </a:p>
        </p:txBody>
      </p:sp>
      <p:sp>
        <p:nvSpPr>
          <p:cNvPr id="5" name="Rectangle 4"/>
          <p:cNvSpPr/>
          <p:nvPr/>
        </p:nvSpPr>
        <p:spPr>
          <a:xfrm>
            <a:off x="596900" y="1320800"/>
            <a:ext cx="10998200" cy="635000"/>
          </a:xfrm>
          <a:prstGeom prst="rect">
            <a:avLst/>
          </a:prstGeom>
          <a:solidFill>
            <a:srgbClr val="2B1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500" y="1320800"/>
            <a:ext cx="508000" cy="635000"/>
          </a:xfrm>
          <a:prstGeom prst="rect">
            <a:avLst/>
          </a:prstGeom>
          <a:noFill/>
        </p:spPr>
        <p:txBody>
          <a:bodyPr wrap="square" lIns="0" rIns="0" tIns="0" bIns="0" anchor="ctr">
            <a:spAutoFit/>
          </a:bodyPr>
          <a:lstStyle/>
          <a:p>
            <a:pPr algn="l">
              <a:lnSpc>
                <a:spcPct val="115000"/>
              </a:lnSpc>
            </a:pPr>
            <a:r>
              <a:rPr sz="2000" b="1">
                <a:solidFill>
                  <a:srgbClr val="F0883E"/>
                </a:solidFill>
                <a:latin typeface="Courier New"/>
              </a:rPr>
              <a:t>0</a:t>
            </a:r>
          </a:p>
        </p:txBody>
      </p:sp>
      <p:sp>
        <p:nvSpPr>
          <p:cNvPr id="7" name="TextBox 6"/>
          <p:cNvSpPr txBox="1"/>
          <p:nvPr/>
        </p:nvSpPr>
        <p:spPr>
          <a:xfrm>
            <a:off x="1409700" y="1320800"/>
            <a:ext cx="6350000" cy="635000"/>
          </a:xfrm>
          <a:prstGeom prst="rect">
            <a:avLst/>
          </a:prstGeom>
          <a:noFill/>
        </p:spPr>
        <p:txBody>
          <a:bodyPr wrap="square" lIns="0" rIns="0" tIns="0" bIns="0" anchor="ctr">
            <a:spAutoFit/>
          </a:bodyPr>
          <a:lstStyle/>
          <a:p>
            <a:pPr algn="l">
              <a:lnSpc>
                <a:spcPct val="115000"/>
              </a:lnSpc>
            </a:pPr>
            <a:r>
              <a:rPr sz="1700" b="1">
                <a:solidFill>
                  <a:srgbClr val="E6EDF3"/>
                </a:solidFill>
                <a:latin typeface="Arial"/>
              </a:rPr>
              <a:t>Your OS user, ADC, kubeconfig, SSH keys</a:t>
            </a:r>
          </a:p>
        </p:txBody>
      </p:sp>
      <p:sp>
        <p:nvSpPr>
          <p:cNvPr id="8" name="TextBox 7"/>
          <p:cNvSpPr txBox="1"/>
          <p:nvPr/>
        </p:nvSpPr>
        <p:spPr>
          <a:xfrm>
            <a:off x="7962900" y="1320800"/>
            <a:ext cx="3429000" cy="635000"/>
          </a:xfrm>
          <a:prstGeom prst="rect">
            <a:avLst/>
          </a:prstGeom>
          <a:noFill/>
        </p:spPr>
        <p:txBody>
          <a:bodyPr wrap="square" lIns="0" rIns="0" tIns="0" bIns="0" anchor="ctr">
            <a:spAutoFit/>
          </a:bodyPr>
          <a:lstStyle/>
          <a:p>
            <a:pPr algn="l">
              <a:lnSpc>
                <a:spcPct val="115000"/>
              </a:lnSpc>
            </a:pPr>
            <a:r>
              <a:rPr sz="1600" b="0">
                <a:solidFill>
                  <a:srgbClr val="F0883E"/>
                </a:solidFill>
                <a:latin typeface="Arial"/>
              </a:rPr>
              <a:t>Not Copilot's to control</a:t>
            </a:r>
          </a:p>
        </p:txBody>
      </p:sp>
      <p:sp>
        <p:nvSpPr>
          <p:cNvPr id="9" name="Rectangle 8"/>
          <p:cNvSpPr/>
          <p:nvPr/>
        </p:nvSpPr>
        <p:spPr>
          <a:xfrm>
            <a:off x="596900" y="20447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20447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1</a:t>
            </a:r>
          </a:p>
        </p:txBody>
      </p:sp>
      <p:sp>
        <p:nvSpPr>
          <p:cNvPr id="11" name="TextBox 10"/>
          <p:cNvSpPr txBox="1"/>
          <p:nvPr/>
        </p:nvSpPr>
        <p:spPr>
          <a:xfrm>
            <a:off x="1409700" y="20447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Tool visibility  —  --available-tools</a:t>
            </a:r>
          </a:p>
        </p:txBody>
      </p:sp>
      <p:sp>
        <p:nvSpPr>
          <p:cNvPr id="12" name="TextBox 11"/>
          <p:cNvSpPr txBox="1"/>
          <p:nvPr/>
        </p:nvSpPr>
        <p:spPr>
          <a:xfrm>
            <a:off x="7962900" y="20447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Which tools the model sees</a:t>
            </a:r>
          </a:p>
        </p:txBody>
      </p:sp>
      <p:sp>
        <p:nvSpPr>
          <p:cNvPr id="13" name="Rectangle 12"/>
          <p:cNvSpPr/>
          <p:nvPr/>
        </p:nvSpPr>
        <p:spPr>
          <a:xfrm>
            <a:off x="596900" y="27686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500" y="27686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2</a:t>
            </a:r>
          </a:p>
        </p:txBody>
      </p:sp>
      <p:sp>
        <p:nvSpPr>
          <p:cNvPr id="15" name="TextBox 14"/>
          <p:cNvSpPr txBox="1"/>
          <p:nvPr/>
        </p:nvSpPr>
        <p:spPr>
          <a:xfrm>
            <a:off x="1409700" y="27686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Tool permission  —  --allow-tool / --deny-tool</a:t>
            </a:r>
          </a:p>
        </p:txBody>
      </p:sp>
      <p:sp>
        <p:nvSpPr>
          <p:cNvPr id="16" name="TextBox 15"/>
          <p:cNvSpPr txBox="1"/>
          <p:nvPr/>
        </p:nvSpPr>
        <p:spPr>
          <a:xfrm>
            <a:off x="7962900" y="27686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Whether you get asked</a:t>
            </a:r>
          </a:p>
        </p:txBody>
      </p:sp>
      <p:sp>
        <p:nvSpPr>
          <p:cNvPr id="17" name="Rectangle 16"/>
          <p:cNvSpPr/>
          <p:nvPr/>
        </p:nvSpPr>
        <p:spPr>
          <a:xfrm>
            <a:off x="596900" y="34925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500" y="34925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3</a:t>
            </a:r>
          </a:p>
        </p:txBody>
      </p:sp>
      <p:sp>
        <p:nvSpPr>
          <p:cNvPr id="19" name="TextBox 18"/>
          <p:cNvSpPr txBox="1"/>
          <p:nvPr/>
        </p:nvSpPr>
        <p:spPr>
          <a:xfrm>
            <a:off x="1409700" y="34925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Path and URL scope</a:t>
            </a:r>
          </a:p>
        </p:txBody>
      </p:sp>
      <p:sp>
        <p:nvSpPr>
          <p:cNvPr id="20" name="TextBox 19"/>
          <p:cNvSpPr txBox="1"/>
          <p:nvPr/>
        </p:nvSpPr>
        <p:spPr>
          <a:xfrm>
            <a:off x="7962900" y="34925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What a tool may touch</a:t>
            </a:r>
          </a:p>
        </p:txBody>
      </p:sp>
      <p:sp>
        <p:nvSpPr>
          <p:cNvPr id="21" name="Rectangle 20"/>
          <p:cNvSpPr/>
          <p:nvPr/>
        </p:nvSpPr>
        <p:spPr>
          <a:xfrm>
            <a:off x="596900" y="42164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500" y="42164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4</a:t>
            </a:r>
          </a:p>
        </p:txBody>
      </p:sp>
      <p:sp>
        <p:nvSpPr>
          <p:cNvPr id="23" name="TextBox 22"/>
          <p:cNvSpPr txBox="1"/>
          <p:nvPr/>
        </p:nvSpPr>
        <p:spPr>
          <a:xfrm>
            <a:off x="1409700" y="42164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Local sandbox</a:t>
            </a:r>
          </a:p>
        </p:txBody>
      </p:sp>
      <p:sp>
        <p:nvSpPr>
          <p:cNvPr id="24" name="TextBox 23"/>
          <p:cNvSpPr txBox="1"/>
          <p:nvPr/>
        </p:nvSpPr>
        <p:spPr>
          <a:xfrm>
            <a:off x="7962900" y="42164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OS checks, for child processes</a:t>
            </a:r>
          </a:p>
        </p:txBody>
      </p:sp>
      <p:sp>
        <p:nvSpPr>
          <p:cNvPr id="25" name="Rectangle 24"/>
          <p:cNvSpPr/>
          <p:nvPr/>
        </p:nvSpPr>
        <p:spPr>
          <a:xfrm>
            <a:off x="596900" y="49403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500" y="49403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5</a:t>
            </a:r>
          </a:p>
        </p:txBody>
      </p:sp>
      <p:sp>
        <p:nvSpPr>
          <p:cNvPr id="27" name="TextBox 26"/>
          <p:cNvSpPr txBox="1"/>
          <p:nvPr/>
        </p:nvSpPr>
        <p:spPr>
          <a:xfrm>
            <a:off x="1409700" y="49403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Hooks and managed settings</a:t>
            </a:r>
          </a:p>
        </p:txBody>
      </p:sp>
      <p:sp>
        <p:nvSpPr>
          <p:cNvPr id="28" name="TextBox 27"/>
          <p:cNvSpPr txBox="1"/>
          <p:nvPr/>
        </p:nvSpPr>
        <p:spPr>
          <a:xfrm>
            <a:off x="7962900" y="49403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Your code, your admin</a:t>
            </a:r>
          </a:p>
        </p:txBody>
      </p:sp>
      <p:sp>
        <p:nvSpPr>
          <p:cNvPr id="29" name="TextBox 28"/>
          <p:cNvSpPr txBox="1"/>
          <p:nvPr/>
        </p:nvSpPr>
        <p:spPr>
          <a:xfrm>
            <a:off x="596900" y="58674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Five layers you configure sit on one layer you already 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Visibility is not permission</a:t>
            </a:r>
          </a:p>
        </p:txBody>
      </p:sp>
      <p:sp>
        <p:nvSpPr>
          <p:cNvPr id="5" name="Rectangle 4"/>
          <p:cNvSpPr/>
          <p:nvPr/>
        </p:nvSpPr>
        <p:spPr>
          <a:xfrm>
            <a:off x="596900" y="1320800"/>
            <a:ext cx="5384800" cy="317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320800"/>
            <a:ext cx="5384800" cy="5080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6300" y="1600200"/>
            <a:ext cx="4826000" cy="381000"/>
          </a:xfrm>
          <a:prstGeom prst="rect">
            <a:avLst/>
          </a:prstGeom>
          <a:noFill/>
        </p:spPr>
        <p:txBody>
          <a:bodyPr wrap="square" lIns="0" rIns="0" tIns="0" bIns="0" anchor="t">
            <a:spAutoFit/>
          </a:bodyPr>
          <a:lstStyle/>
          <a:p>
            <a:pPr algn="l">
              <a:lnSpc>
                <a:spcPct val="115000"/>
              </a:lnSpc>
            </a:pPr>
            <a:r>
              <a:rPr sz="2000" b="1">
                <a:solidFill>
                  <a:srgbClr val="58A6FF"/>
                </a:solidFill>
                <a:latin typeface="Arial"/>
              </a:rPr>
              <a:t>Visibility</a:t>
            </a:r>
          </a:p>
        </p:txBody>
      </p:sp>
      <p:sp>
        <p:nvSpPr>
          <p:cNvPr id="8" name="TextBox 7"/>
          <p:cNvSpPr txBox="1"/>
          <p:nvPr/>
        </p:nvSpPr>
        <p:spPr>
          <a:xfrm>
            <a:off x="876300" y="2133600"/>
            <a:ext cx="4826000" cy="2082800"/>
          </a:xfrm>
          <a:prstGeom prst="rect">
            <a:avLst/>
          </a:prstGeom>
          <a:noFill/>
        </p:spPr>
        <p:txBody>
          <a:bodyPr wrap="square" lIns="0" rIns="0" tIns="0" bIns="0" anchor="t">
            <a:spAutoFit/>
          </a:bodyPr>
          <a:lstStyle/>
          <a:p>
            <a:pPr algn="l">
              <a:lnSpc>
                <a:spcPct val="135000"/>
              </a:lnSpc>
            </a:pPr>
            <a:r>
              <a:rPr sz="1700" b="0">
                <a:solidFill>
                  <a:srgbClr val="E6EDF3"/>
                </a:solidFill>
                <a:latin typeface="Courier New"/>
              </a:rPr>
              <a:t>--available-tools</a:t>
            </a:r>
          </a:p>
          <a:p>
            <a:pPr algn="l">
              <a:lnSpc>
                <a:spcPct val="135000"/>
              </a:lnSpc>
            </a:pPr>
            <a:r>
              <a:rPr sz="1700" b="0">
                <a:solidFill>
                  <a:srgbClr val="E6EDF3"/>
                </a:solidFill>
                <a:latin typeface="Courier New"/>
              </a:rPr>
              <a:t>--excluded-tools</a:t>
            </a:r>
          </a:p>
          <a:p>
            <a:pPr algn="l">
              <a:lnSpc>
                <a:spcPct val="135000"/>
              </a:lnSpc>
            </a:pPr>
            <a:r>
              <a:rPr sz="1700" b="0">
                <a:solidFill>
                  <a:srgbClr val="E6EDF3"/>
                </a:solidFill>
                <a:latin typeface="Arial"/>
              </a:rPr>
              <a:t/>
            </a:r>
          </a:p>
          <a:p>
            <a:pPr algn="l">
              <a:lnSpc>
                <a:spcPct val="135000"/>
              </a:lnSpc>
            </a:pPr>
            <a:r>
              <a:rPr sz="1700" b="0">
                <a:solidFill>
                  <a:srgbClr val="E6EDF3"/>
                </a:solidFill>
                <a:latin typeface="Arial"/>
              </a:rPr>
              <a:t>Changes what the model knows</a:t>
            </a:r>
          </a:p>
          <a:p>
            <a:pPr algn="l">
              <a:lnSpc>
                <a:spcPct val="135000"/>
              </a:lnSpc>
            </a:pPr>
            <a:r>
              <a:rPr sz="1700" b="0">
                <a:solidFill>
                  <a:srgbClr val="E6EDF3"/>
                </a:solidFill>
                <a:latin typeface="Arial"/>
              </a:rPr>
              <a:t>exists. A tool outside the set</a:t>
            </a:r>
          </a:p>
          <a:p>
            <a:pPr algn="l">
              <a:lnSpc>
                <a:spcPct val="135000"/>
              </a:lnSpc>
            </a:pPr>
            <a:r>
              <a:rPr sz="1700" b="0">
                <a:solidFill>
                  <a:srgbClr val="E6EDF3"/>
                </a:solidFill>
                <a:latin typeface="Arial"/>
              </a:rPr>
              <a:t>cannot be used — even if you</a:t>
            </a:r>
          </a:p>
          <a:p>
            <a:pPr algn="l">
              <a:lnSpc>
                <a:spcPct val="135000"/>
              </a:lnSpc>
            </a:pPr>
            <a:r>
              <a:rPr sz="1700" b="0">
                <a:solidFill>
                  <a:srgbClr val="E6EDF3"/>
                </a:solidFill>
                <a:latin typeface="Arial"/>
              </a:rPr>
              <a:t>also allow it.</a:t>
            </a:r>
          </a:p>
        </p:txBody>
      </p:sp>
      <p:sp>
        <p:nvSpPr>
          <p:cNvPr id="9" name="Rectangle 8"/>
          <p:cNvSpPr/>
          <p:nvPr/>
        </p:nvSpPr>
        <p:spPr>
          <a:xfrm>
            <a:off x="6210300" y="1320800"/>
            <a:ext cx="5384800" cy="317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0300" y="1320800"/>
            <a:ext cx="5384800" cy="50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9700" y="1600200"/>
            <a:ext cx="4826000" cy="381000"/>
          </a:xfrm>
          <a:prstGeom prst="rect">
            <a:avLst/>
          </a:prstGeom>
          <a:noFill/>
        </p:spPr>
        <p:txBody>
          <a:bodyPr wrap="square" lIns="0" rIns="0" tIns="0" bIns="0" anchor="t">
            <a:spAutoFit/>
          </a:bodyPr>
          <a:lstStyle/>
          <a:p>
            <a:pPr algn="l">
              <a:lnSpc>
                <a:spcPct val="115000"/>
              </a:lnSpc>
            </a:pPr>
            <a:r>
              <a:rPr sz="2000" b="1">
                <a:solidFill>
                  <a:srgbClr val="F0883E"/>
                </a:solidFill>
                <a:latin typeface="Arial"/>
              </a:rPr>
              <a:t>Permission</a:t>
            </a:r>
          </a:p>
        </p:txBody>
      </p:sp>
      <p:sp>
        <p:nvSpPr>
          <p:cNvPr id="12" name="TextBox 11"/>
          <p:cNvSpPr txBox="1"/>
          <p:nvPr/>
        </p:nvSpPr>
        <p:spPr>
          <a:xfrm>
            <a:off x="6489700" y="2133600"/>
            <a:ext cx="4826000" cy="2082800"/>
          </a:xfrm>
          <a:prstGeom prst="rect">
            <a:avLst/>
          </a:prstGeom>
          <a:noFill/>
        </p:spPr>
        <p:txBody>
          <a:bodyPr wrap="square" lIns="0" rIns="0" tIns="0" bIns="0" anchor="t">
            <a:spAutoFit/>
          </a:bodyPr>
          <a:lstStyle/>
          <a:p>
            <a:pPr algn="l">
              <a:lnSpc>
                <a:spcPct val="135000"/>
              </a:lnSpc>
            </a:pPr>
            <a:r>
              <a:rPr sz="1700" b="0">
                <a:solidFill>
                  <a:srgbClr val="E6EDF3"/>
                </a:solidFill>
                <a:latin typeface="Courier New"/>
              </a:rPr>
              <a:t>--allow-tool</a:t>
            </a:r>
          </a:p>
          <a:p>
            <a:pPr algn="l">
              <a:lnSpc>
                <a:spcPct val="135000"/>
              </a:lnSpc>
            </a:pPr>
            <a:r>
              <a:rPr sz="1700" b="0">
                <a:solidFill>
                  <a:srgbClr val="E6EDF3"/>
                </a:solidFill>
                <a:latin typeface="Courier New"/>
              </a:rPr>
              <a:t>--deny-tool</a:t>
            </a:r>
          </a:p>
          <a:p>
            <a:pPr algn="l">
              <a:lnSpc>
                <a:spcPct val="135000"/>
              </a:lnSpc>
            </a:pPr>
            <a:r>
              <a:rPr sz="1700" b="0">
                <a:solidFill>
                  <a:srgbClr val="E6EDF3"/>
                </a:solidFill>
                <a:latin typeface="Arial"/>
              </a:rPr>
              <a:t/>
            </a:r>
          </a:p>
          <a:p>
            <a:pPr algn="l">
              <a:lnSpc>
                <a:spcPct val="135000"/>
              </a:lnSpc>
            </a:pPr>
            <a:r>
              <a:rPr sz="1700" b="0">
                <a:solidFill>
                  <a:srgbClr val="E6EDF3"/>
                </a:solidFill>
                <a:latin typeface="Arial"/>
              </a:rPr>
              <a:t>Changes whether you get an</a:t>
            </a:r>
          </a:p>
          <a:p>
            <a:pPr algn="l">
              <a:lnSpc>
                <a:spcPct val="135000"/>
              </a:lnSpc>
            </a:pPr>
            <a:r>
              <a:rPr sz="1700" b="0">
                <a:solidFill>
                  <a:srgbClr val="E6EDF3"/>
                </a:solidFill>
                <a:latin typeface="Arial"/>
              </a:rPr>
              <a:t>approval prompt. Does not</a:t>
            </a:r>
          </a:p>
          <a:p>
            <a:pPr algn="l">
              <a:lnSpc>
                <a:spcPct val="135000"/>
              </a:lnSpc>
            </a:pPr>
            <a:r>
              <a:rPr sz="1700" b="0">
                <a:solidFill>
                  <a:srgbClr val="E6EDF3"/>
                </a:solidFill>
                <a:latin typeface="Arial"/>
              </a:rPr>
              <a:t>resurface a tool that visibility</a:t>
            </a:r>
          </a:p>
          <a:p>
            <a:pPr algn="l">
              <a:lnSpc>
                <a:spcPct val="135000"/>
              </a:lnSpc>
            </a:pPr>
            <a:r>
              <a:rPr sz="1700" b="0">
                <a:solidFill>
                  <a:srgbClr val="E6EDF3"/>
                </a:solidFill>
                <a:latin typeface="Arial"/>
              </a:rPr>
              <a:t>already hid.</a:t>
            </a:r>
          </a:p>
        </p:txBody>
      </p:sp>
      <p:sp>
        <p:nvSpPr>
          <p:cNvPr id="13" name="Rectangle 12"/>
          <p:cNvSpPr/>
          <p:nvPr/>
        </p:nvSpPr>
        <p:spPr>
          <a:xfrm>
            <a:off x="596900" y="4800600"/>
            <a:ext cx="10998200" cy="1066800"/>
          </a:xfrm>
          <a:prstGeom prst="rect">
            <a:avLst/>
          </a:prstGeom>
          <a:solidFill>
            <a:srgbClr val="2B1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6900" y="4800600"/>
            <a:ext cx="50800" cy="1066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1700" y="4953000"/>
            <a:ext cx="10388600" cy="279400"/>
          </a:xfrm>
          <a:prstGeom prst="rect">
            <a:avLst/>
          </a:prstGeom>
          <a:noFill/>
        </p:spPr>
        <p:txBody>
          <a:bodyPr wrap="square" lIns="0" rIns="0" tIns="0" bIns="0" anchor="t">
            <a:spAutoFit/>
          </a:bodyPr>
          <a:lstStyle/>
          <a:p>
            <a:pPr algn="l">
              <a:lnSpc>
                <a:spcPct val="115000"/>
              </a:lnSpc>
            </a:pPr>
            <a:r>
              <a:rPr sz="1600" b="1">
                <a:solidFill>
                  <a:srgbClr val="F0883E"/>
                </a:solidFill>
                <a:latin typeface="Arial"/>
              </a:rPr>
              <a:t>The gotcha</a:t>
            </a:r>
          </a:p>
        </p:txBody>
      </p:sp>
      <p:sp>
        <p:nvSpPr>
          <p:cNvPr id="16" name="TextBox 15"/>
          <p:cNvSpPr txBox="1"/>
          <p:nvPr/>
        </p:nvSpPr>
        <p:spPr>
          <a:xfrm>
            <a:off x="901700" y="5257800"/>
            <a:ext cx="10388600" cy="457200"/>
          </a:xfrm>
          <a:prstGeom prst="rect">
            <a:avLst/>
          </a:prstGeom>
          <a:noFill/>
        </p:spPr>
        <p:txBody>
          <a:bodyPr wrap="square" lIns="0" rIns="0" tIns="0" bIns="0" anchor="t">
            <a:spAutoFit/>
          </a:bodyPr>
          <a:lstStyle/>
          <a:p>
            <a:pPr algn="l">
              <a:lnSpc>
                <a:spcPct val="130000"/>
              </a:lnSpc>
            </a:pPr>
            <a:r>
              <a:rPr sz="1700" b="0">
                <a:solidFill>
                  <a:srgbClr val="E6EDF3"/>
                </a:solidFill>
                <a:latin typeface="Arial"/>
              </a:rPr>
              <a:t>Pass both visibility flags and --available-tools wins; --excluded-tools is ignored. Pick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Deny beats allow</a:t>
            </a:r>
          </a:p>
        </p:txBody>
      </p:sp>
      <p:sp>
        <p:nvSpPr>
          <p:cNvPr id="5" name="Rectangle 4"/>
          <p:cNvSpPr/>
          <p:nvPr/>
        </p:nvSpPr>
        <p:spPr>
          <a:xfrm>
            <a:off x="596900" y="1320800"/>
            <a:ext cx="10998200" cy="16764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320800"/>
            <a:ext cx="50800" cy="16764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7100" y="1549400"/>
            <a:ext cx="10337800" cy="1219200"/>
          </a:xfrm>
          <a:prstGeom prst="rect">
            <a:avLst/>
          </a:prstGeom>
          <a:noFill/>
        </p:spPr>
        <p:txBody>
          <a:bodyPr wrap="square" lIns="0" rIns="0" tIns="0" bIns="0" anchor="t">
            <a:spAutoFit/>
          </a:bodyPr>
          <a:lstStyle/>
          <a:p>
            <a:pPr algn="l">
              <a:lnSpc>
                <a:spcPct val="145000"/>
              </a:lnSpc>
            </a:pPr>
            <a:r>
              <a:rPr sz="1700" b="0">
                <a:solidFill>
                  <a:srgbClr val="E6EDF3"/>
                </a:solidFill>
                <a:latin typeface="Courier New"/>
              </a:rPr>
              <a:t>copilot \</a:t>
            </a:r>
          </a:p>
          <a:p>
            <a:pPr algn="l">
              <a:lnSpc>
                <a:spcPct val="145000"/>
              </a:lnSpc>
            </a:pPr>
            <a:r>
              <a:rPr sz="1700" b="0">
                <a:solidFill>
                  <a:srgbClr val="3FB950"/>
                </a:solidFill>
                <a:latin typeface="Courier New"/>
              </a:rPr>
              <a:t>  --allow-tool='shell(git:*)' \</a:t>
            </a:r>
          </a:p>
          <a:p>
            <a:pPr algn="l">
              <a:lnSpc>
                <a:spcPct val="145000"/>
              </a:lnSpc>
            </a:pPr>
            <a:r>
              <a:rPr sz="1700" b="0">
                <a:solidFill>
                  <a:srgbClr val="F85149"/>
                </a:solidFill>
                <a:latin typeface="Courier New"/>
              </a:rPr>
              <a:t>  --deny-tool='shell(git push)'</a:t>
            </a:r>
          </a:p>
        </p:txBody>
      </p:sp>
      <p:sp>
        <p:nvSpPr>
          <p:cNvPr id="8" name="TextBox 7"/>
          <p:cNvSpPr txBox="1"/>
          <p:nvPr/>
        </p:nvSpPr>
        <p:spPr>
          <a:xfrm>
            <a:off x="596900" y="3225800"/>
            <a:ext cx="10998200" cy="711200"/>
          </a:xfrm>
          <a:prstGeom prst="rect">
            <a:avLst/>
          </a:prstGeom>
          <a:noFill/>
        </p:spPr>
        <p:txBody>
          <a:bodyPr wrap="square" lIns="0" rIns="0" tIns="0" bIns="0" anchor="t">
            <a:spAutoFit/>
          </a:bodyPr>
          <a:lstStyle/>
          <a:p>
            <a:pPr algn="l">
              <a:lnSpc>
                <a:spcPct val="140000"/>
              </a:lnSpc>
            </a:pPr>
            <a:r>
              <a:rPr sz="2000" b="0">
                <a:solidFill>
                  <a:srgbClr val="E6EDF3"/>
                </a:solidFill>
                <a:latin typeface="Arial"/>
              </a:rPr>
              <a:t>A matching deny beats allow, beats --allow-all,</a:t>
            </a:r>
          </a:p>
          <a:p>
            <a:pPr algn="l">
              <a:lnSpc>
                <a:spcPct val="140000"/>
              </a:lnSpc>
            </a:pPr>
            <a:r>
              <a:rPr sz="2000" b="0">
                <a:solidFill>
                  <a:srgbClr val="E6EDF3"/>
                </a:solidFill>
                <a:latin typeface="Arial"/>
              </a:rPr>
              <a:t>and beats any approval you saved earlier.</a:t>
            </a:r>
          </a:p>
        </p:txBody>
      </p:sp>
      <p:sp>
        <p:nvSpPr>
          <p:cNvPr id="9" name="Rectangle 8"/>
          <p:cNvSpPr/>
          <p:nvPr/>
        </p:nvSpPr>
        <p:spPr>
          <a:xfrm>
            <a:off x="596900" y="4419600"/>
            <a:ext cx="10998200" cy="1219200"/>
          </a:xfrm>
          <a:prstGeom prst="rect">
            <a:avLst/>
          </a:prstGeom>
          <a:solidFill>
            <a:srgbClr val="2B1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6900" y="4419600"/>
            <a:ext cx="50800" cy="1219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1700" y="4572000"/>
            <a:ext cx="10388600" cy="279400"/>
          </a:xfrm>
          <a:prstGeom prst="rect">
            <a:avLst/>
          </a:prstGeom>
          <a:noFill/>
        </p:spPr>
        <p:txBody>
          <a:bodyPr wrap="square" lIns="0" rIns="0" tIns="0" bIns="0" anchor="t">
            <a:spAutoFit/>
          </a:bodyPr>
          <a:lstStyle/>
          <a:p>
            <a:pPr algn="l">
              <a:lnSpc>
                <a:spcPct val="115000"/>
              </a:lnSpc>
            </a:pPr>
            <a:r>
              <a:rPr sz="1600" b="1">
                <a:solidFill>
                  <a:srgbClr val="F0883E"/>
                </a:solidFill>
                <a:latin typeface="Arial"/>
              </a:rPr>
              <a:t>One qualification</a:t>
            </a:r>
          </a:p>
        </p:txBody>
      </p:sp>
      <p:sp>
        <p:nvSpPr>
          <p:cNvPr id="12" name="TextBox 11"/>
          <p:cNvSpPr txBox="1"/>
          <p:nvPr/>
        </p:nvSpPr>
        <p:spPr>
          <a:xfrm>
            <a:off x="901700" y="4876800"/>
            <a:ext cx="10388600" cy="609600"/>
          </a:xfrm>
          <a:prstGeom prst="rect">
            <a:avLst/>
          </a:prstGeom>
          <a:noFill/>
        </p:spPr>
        <p:txBody>
          <a:bodyPr wrap="square" lIns="0" rIns="0" tIns="0" bIns="0" anchor="t">
            <a:spAutoFit/>
          </a:bodyPr>
          <a:lstStyle/>
          <a:p>
            <a:pPr algn="l">
              <a:lnSpc>
                <a:spcPct val="130000"/>
              </a:lnSpc>
            </a:pPr>
            <a:r>
              <a:rPr sz="1700" b="0">
                <a:solidFill>
                  <a:srgbClr val="E6EDF3"/>
                </a:solidFill>
                <a:latin typeface="Arial"/>
              </a:rPr>
              <a:t>A permissionRequest hook can decide before the normal rules run. Your hooks are inside your trust boundary, not a vendor guarantee.</a:t>
            </a:r>
          </a:p>
        </p:txBody>
      </p:sp>
      <p:sp>
        <p:nvSpPr>
          <p:cNvPr id="13" name="TextBox 12"/>
          <p:cNvSpPr txBox="1"/>
          <p:nvPr/>
        </p:nvSpPr>
        <p:spPr>
          <a:xfrm>
            <a:off x="596900" y="57912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Allow broadly for a bounded task, then deny the specific foot-guns.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Demo 1  —  Read</a:t>
            </a:r>
          </a:p>
        </p:txBody>
      </p:sp>
      <p:sp>
        <p:nvSpPr>
          <p:cNvPr id="5" name="Rectangle 4"/>
          <p:cNvSpPr/>
          <p:nvPr/>
        </p:nvSpPr>
        <p:spPr>
          <a:xfrm>
            <a:off x="596900" y="1422400"/>
            <a:ext cx="10998200" cy="7874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422400"/>
            <a:ext cx="50800" cy="7874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422400"/>
            <a:ext cx="10287000" cy="787400"/>
          </a:xfrm>
          <a:prstGeom prst="rect">
            <a:avLst/>
          </a:prstGeom>
          <a:noFill/>
        </p:spPr>
        <p:txBody>
          <a:bodyPr wrap="square" lIns="0" rIns="0" tIns="0" bIns="0" anchor="ctr">
            <a:spAutoFit/>
          </a:bodyPr>
          <a:lstStyle/>
          <a:p>
            <a:pPr algn="l">
              <a:lnSpc>
                <a:spcPct val="115000"/>
              </a:lnSpc>
            </a:pPr>
            <a:r>
              <a:rPr sz="2300" b="1">
                <a:solidFill>
                  <a:srgbClr val="E6EDF3"/>
                </a:solidFill>
                <a:latin typeface="Courier New"/>
              </a:rPr>
              <a:t>"The last CI run failed. Why?"</a:t>
            </a:r>
          </a:p>
        </p:txBody>
      </p:sp>
      <p:sp>
        <p:nvSpPr>
          <p:cNvPr id="8" name="Rectangle 7"/>
          <p:cNvSpPr/>
          <p:nvPr/>
        </p:nvSpPr>
        <p:spPr>
          <a:xfrm>
            <a:off x="596900" y="2489200"/>
            <a:ext cx="10998200" cy="18796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6900" y="2489200"/>
            <a:ext cx="50800" cy="18796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7100" y="2717800"/>
            <a:ext cx="10337800" cy="1422400"/>
          </a:xfrm>
          <a:prstGeom prst="rect">
            <a:avLst/>
          </a:prstGeom>
          <a:noFill/>
        </p:spPr>
        <p:txBody>
          <a:bodyPr wrap="square" lIns="0" rIns="0" tIns="0" bIns="0" anchor="t">
            <a:spAutoFit/>
          </a:bodyPr>
          <a:lstStyle/>
          <a:p>
            <a:pPr algn="l">
              <a:lnSpc>
                <a:spcPct val="145000"/>
              </a:lnSpc>
            </a:pPr>
            <a:r>
              <a:rPr sz="1700" b="0">
                <a:solidFill>
                  <a:srgbClr val="E6EDF3"/>
                </a:solidFill>
                <a:latin typeface="Courier New"/>
              </a:rPr>
              <a:t>COPILOT_HOME="$RO" copilot --experimental --sandbox \</a:t>
            </a:r>
          </a:p>
          <a:p>
            <a:pPr algn="l">
              <a:lnSpc>
                <a:spcPct val="145000"/>
              </a:lnSpc>
            </a:pPr>
            <a:r>
              <a:rPr sz="1700" b="0">
                <a:solidFill>
                  <a:srgbClr val="58A6FF"/>
                </a:solidFill>
                <a:latin typeface="Courier New"/>
              </a:rPr>
              <a:t>  --available-tools=view,grep,glob \</a:t>
            </a:r>
          </a:p>
          <a:p>
            <a:pPr algn="l">
              <a:lnSpc>
                <a:spcPct val="145000"/>
              </a:lnSpc>
            </a:pPr>
            <a:r>
              <a:rPr sz="1700" b="0">
                <a:solidFill>
                  <a:srgbClr val="3FB950"/>
                </a:solidFill>
                <a:latin typeface="Courier New"/>
              </a:rPr>
              <a:t>  --allow-tool=read \</a:t>
            </a:r>
          </a:p>
          <a:p>
            <a:pPr algn="l">
              <a:lnSpc>
                <a:spcPct val="145000"/>
              </a:lnSpc>
            </a:pPr>
            <a:r>
              <a:rPr sz="1700" b="0">
                <a:solidFill>
                  <a:srgbClr val="F85149"/>
                </a:solidFill>
                <a:latin typeface="Courier New"/>
              </a:rPr>
              <a:t>  --deny-tool=write,shell</a:t>
            </a:r>
          </a:p>
        </p:txBody>
      </p:sp>
      <p:sp>
        <p:nvSpPr>
          <p:cNvPr id="11" name="TextBox 10"/>
          <p:cNvSpPr txBox="1"/>
          <p:nvPr/>
        </p:nvSpPr>
        <p:spPr>
          <a:xfrm>
            <a:off x="596900" y="50292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No shell at all. Watch what it never does: it never asks me for permission.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Demo 2  —  Write</a:t>
            </a:r>
          </a:p>
        </p:txBody>
      </p:sp>
      <p:sp>
        <p:nvSpPr>
          <p:cNvPr id="5" name="Rectangle 4"/>
          <p:cNvSpPr/>
          <p:nvPr/>
        </p:nvSpPr>
        <p:spPr>
          <a:xfrm>
            <a:off x="596900" y="1422400"/>
            <a:ext cx="10998200" cy="7874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422400"/>
            <a:ext cx="50800" cy="7874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422400"/>
            <a:ext cx="10287000" cy="787400"/>
          </a:xfrm>
          <a:prstGeom prst="rect">
            <a:avLst/>
          </a:prstGeom>
          <a:noFill/>
        </p:spPr>
        <p:txBody>
          <a:bodyPr wrap="square" lIns="0" rIns="0" tIns="0" bIns="0" anchor="ctr">
            <a:spAutoFit/>
          </a:bodyPr>
          <a:lstStyle/>
          <a:p>
            <a:pPr algn="l">
              <a:lnSpc>
                <a:spcPct val="115000"/>
              </a:lnSpc>
            </a:pPr>
            <a:r>
              <a:rPr sz="2300" b="1">
                <a:solidFill>
                  <a:srgbClr val="E6EDF3"/>
                </a:solidFill>
                <a:latin typeface="Courier New"/>
              </a:rPr>
              <a:t>"This bucket isn't hardened. Fix it."</a:t>
            </a:r>
          </a:p>
        </p:txBody>
      </p:sp>
      <p:sp>
        <p:nvSpPr>
          <p:cNvPr id="8" name="Rectangle 7"/>
          <p:cNvSpPr/>
          <p:nvPr/>
        </p:nvSpPr>
        <p:spPr>
          <a:xfrm>
            <a:off x="596900" y="2489200"/>
            <a:ext cx="10998200" cy="22098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6900" y="2489200"/>
            <a:ext cx="50800" cy="2209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7100" y="2717800"/>
            <a:ext cx="10337800" cy="1752600"/>
          </a:xfrm>
          <a:prstGeom prst="rect">
            <a:avLst/>
          </a:prstGeom>
          <a:noFill/>
        </p:spPr>
        <p:txBody>
          <a:bodyPr wrap="square" lIns="0" rIns="0" tIns="0" bIns="0" anchor="t">
            <a:spAutoFit/>
          </a:bodyPr>
          <a:lstStyle/>
          <a:p>
            <a:pPr algn="l">
              <a:lnSpc>
                <a:spcPct val="145000"/>
              </a:lnSpc>
            </a:pPr>
            <a:r>
              <a:rPr sz="1700" b="0">
                <a:solidFill>
                  <a:srgbClr val="E6EDF3"/>
                </a:solidFill>
                <a:latin typeface="Courier New"/>
              </a:rPr>
              <a:t>COPILOT_HOME="$RW" copilot --experimental --sandbox \</a:t>
            </a:r>
          </a:p>
          <a:p>
            <a:pPr algn="l">
              <a:lnSpc>
                <a:spcPct val="145000"/>
              </a:lnSpc>
            </a:pPr>
            <a:r>
              <a:rPr sz="1700" b="0">
                <a:solidFill>
                  <a:srgbClr val="58A6FF"/>
                </a:solidFill>
                <a:latin typeface="Courier New"/>
              </a:rPr>
              <a:t>  --available-tools=...,bash,edit,create,apply_patch \</a:t>
            </a:r>
          </a:p>
          <a:p>
            <a:pPr algn="l">
              <a:lnSpc>
                <a:spcPct val="145000"/>
              </a:lnSpc>
            </a:pPr>
            <a:r>
              <a:rPr sz="1700" b="0">
                <a:solidFill>
                  <a:srgbClr val="3FB950"/>
                </a:solidFill>
                <a:latin typeface="Courier New"/>
              </a:rPr>
              <a:t>  --allow-tool='read,shell(git status),shell(git diff)' \</a:t>
            </a:r>
          </a:p>
          <a:p>
            <a:pPr algn="l">
              <a:lnSpc>
                <a:spcPct val="145000"/>
              </a:lnSpc>
            </a:pPr>
            <a:r>
              <a:rPr sz="1700" b="0">
                <a:solidFill>
                  <a:srgbClr val="F85149"/>
                </a:solidFill>
                <a:latin typeface="Courier New"/>
              </a:rPr>
              <a:t>  --deny-tool='shell(git push),shell(terraform),</a:t>
            </a:r>
          </a:p>
          <a:p>
            <a:pPr algn="l">
              <a:lnSpc>
                <a:spcPct val="145000"/>
              </a:lnSpc>
            </a:pPr>
            <a:r>
              <a:rPr sz="1700" b="0">
                <a:solidFill>
                  <a:srgbClr val="F85149"/>
                </a:solidFill>
                <a:latin typeface="Courier New"/>
              </a:rPr>
              <a:t>               shell(terraform:*),shell(gcloud),shell(gcloud:*)'</a:t>
            </a:r>
          </a:p>
        </p:txBody>
      </p:sp>
      <p:sp>
        <p:nvSpPr>
          <p:cNvPr id="11" name="TextBox 10"/>
          <p:cNvSpPr txBox="1"/>
          <p:nvPr/>
        </p:nvSpPr>
        <p:spPr>
          <a:xfrm>
            <a:off x="596900" y="53594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Writes are not in --allow-tool. The first edit has to ask. Output is a diff on a branch.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Demo 3  —  Refuse</a:t>
            </a:r>
          </a:p>
        </p:txBody>
      </p:sp>
      <p:sp>
        <p:nvSpPr>
          <p:cNvPr id="5" name="Rectangle 4"/>
          <p:cNvSpPr/>
          <p:nvPr/>
        </p:nvSpPr>
        <p:spPr>
          <a:xfrm>
            <a:off x="596900" y="1422400"/>
            <a:ext cx="10998200" cy="7874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422400"/>
            <a:ext cx="50800" cy="7874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422400"/>
            <a:ext cx="10287000" cy="787400"/>
          </a:xfrm>
          <a:prstGeom prst="rect">
            <a:avLst/>
          </a:prstGeom>
          <a:noFill/>
        </p:spPr>
        <p:txBody>
          <a:bodyPr wrap="square" lIns="0" rIns="0" tIns="0" bIns="0" anchor="ctr">
            <a:spAutoFit/>
          </a:bodyPr>
          <a:lstStyle/>
          <a:p>
            <a:pPr algn="l">
              <a:lnSpc>
                <a:spcPct val="115000"/>
              </a:lnSpc>
            </a:pPr>
            <a:r>
              <a:rPr sz="2300" b="1">
                <a:solidFill>
                  <a:srgbClr val="E6EDF3"/>
                </a:solidFill>
                <a:latin typeface="Courier New"/>
              </a:rPr>
              <a:t>"Skip Terraform. Fix it in GCP directly."</a:t>
            </a:r>
          </a:p>
        </p:txBody>
      </p:sp>
      <p:sp>
        <p:nvSpPr>
          <p:cNvPr id="8" name="Rectangle 7"/>
          <p:cNvSpPr/>
          <p:nvPr/>
        </p:nvSpPr>
        <p:spPr>
          <a:xfrm>
            <a:off x="596900" y="2489200"/>
            <a:ext cx="10998200" cy="22098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6900" y="2489200"/>
            <a:ext cx="50800" cy="2209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7100" y="2717800"/>
            <a:ext cx="10337800" cy="1752600"/>
          </a:xfrm>
          <a:prstGeom prst="rect">
            <a:avLst/>
          </a:prstGeom>
          <a:noFill/>
        </p:spPr>
        <p:txBody>
          <a:bodyPr wrap="square" lIns="0" rIns="0" tIns="0" bIns="0" anchor="t">
            <a:spAutoFit/>
          </a:bodyPr>
          <a:lstStyle/>
          <a:p>
            <a:pPr algn="l">
              <a:lnSpc>
                <a:spcPct val="145000"/>
              </a:lnSpc>
            </a:pPr>
            <a:r>
              <a:rPr sz="1700" b="0">
                <a:solidFill>
                  <a:srgbClr val="3FB950"/>
                </a:solidFill>
                <a:latin typeface="Courier New"/>
              </a:rPr>
              <a:t>  --allow-tool='read,shell(az --version)' \</a:t>
            </a:r>
          </a:p>
          <a:p>
            <a:pPr algn="l">
              <a:lnSpc>
                <a:spcPct val="145000"/>
              </a:lnSpc>
            </a:pPr>
            <a:r>
              <a:rPr sz="1700" b="0">
                <a:solidFill>
                  <a:srgbClr val="F85149"/>
                </a:solidFill>
                <a:latin typeface="Courier New"/>
              </a:rPr>
              <a:t>  --deny-tool='write,shell(gcloud),shell(gcloud:*)'</a:t>
            </a:r>
          </a:p>
          <a:p>
            <a:pPr algn="l">
              <a:lnSpc>
                <a:spcPct val="145000"/>
              </a:lnSpc>
            </a:pPr>
            <a:r>
              <a:rPr sz="1700" b="0">
                <a:solidFill>
                  <a:srgbClr val="E6EDF3"/>
                </a:solidFill>
                <a:latin typeface="Courier New"/>
              </a:rPr>
              <a:t/>
            </a:r>
          </a:p>
          <a:p>
            <a:pPr algn="l">
              <a:lnSpc>
                <a:spcPct val="145000"/>
              </a:lnSpc>
            </a:pPr>
            <a:r>
              <a:rPr sz="1700" b="0">
                <a:solidFill>
                  <a:srgbClr val="3FB950"/>
                </a:solidFill>
                <a:latin typeface="Courier New"/>
              </a:rPr>
              <a:t>$ az --version     -&gt; DEMO_STUB_EXECUTED: fake az</a:t>
            </a:r>
          </a:p>
          <a:p>
            <a:pPr algn="l">
              <a:lnSpc>
                <a:spcPct val="145000"/>
              </a:lnSpc>
            </a:pPr>
            <a:r>
              <a:rPr sz="1700" b="0">
                <a:solidFill>
                  <a:srgbClr val="F85149"/>
                </a:solidFill>
                <a:latin typeface="Courier New"/>
              </a:rPr>
              <a:t>$ gcloud --version -&gt; denied by tool rule</a:t>
            </a:r>
          </a:p>
        </p:txBody>
      </p:sp>
      <p:sp>
        <p:nvSpPr>
          <p:cNvPr id="11" name="TextBox 10"/>
          <p:cNvSpPr txBox="1"/>
          <p:nvPr/>
        </p:nvSpPr>
        <p:spPr>
          <a:xfrm>
            <a:off x="596900" y="53594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Same command shape. Same fake binary. One deny rule between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Nobody consented to cat</a:t>
            </a:r>
          </a:p>
        </p:txBody>
      </p:sp>
      <p:sp>
        <p:nvSpPr>
          <p:cNvPr id="5" name="Rectangle 4"/>
          <p:cNvSpPr/>
          <p:nvPr/>
        </p:nvSpPr>
        <p:spPr>
          <a:xfrm>
            <a:off x="596900" y="1320800"/>
            <a:ext cx="5384800" cy="2159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320800"/>
            <a:ext cx="5384800" cy="50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6300" y="1600200"/>
            <a:ext cx="4826000" cy="381000"/>
          </a:xfrm>
          <a:prstGeom prst="rect">
            <a:avLst/>
          </a:prstGeom>
          <a:noFill/>
        </p:spPr>
        <p:txBody>
          <a:bodyPr wrap="square" lIns="0" rIns="0" tIns="0" bIns="0" anchor="t">
            <a:spAutoFit/>
          </a:bodyPr>
          <a:lstStyle/>
          <a:p>
            <a:pPr algn="l">
              <a:lnSpc>
                <a:spcPct val="115000"/>
              </a:lnSpc>
            </a:pPr>
            <a:r>
              <a:rPr sz="2000" b="1">
                <a:solidFill>
                  <a:srgbClr val="F0883E"/>
                </a:solidFill>
                <a:latin typeface="Arial"/>
              </a:rPr>
              <a:t>Prompts you</a:t>
            </a:r>
          </a:p>
        </p:txBody>
      </p:sp>
      <p:sp>
        <p:nvSpPr>
          <p:cNvPr id="8" name="TextBox 7"/>
          <p:cNvSpPr txBox="1"/>
          <p:nvPr/>
        </p:nvSpPr>
        <p:spPr>
          <a:xfrm>
            <a:off x="876300" y="2133600"/>
            <a:ext cx="4826000" cy="10668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file changes</a:t>
            </a:r>
          </a:p>
          <a:p>
            <a:pPr algn="l">
              <a:lnSpc>
                <a:spcPct val="135000"/>
              </a:lnSpc>
            </a:pPr>
            <a:r>
              <a:rPr sz="1700" b="0">
                <a:solidFill>
                  <a:srgbClr val="E6EDF3"/>
                </a:solidFill>
                <a:latin typeface="Arial"/>
              </a:rPr>
              <a:t>destructive shell commands</a:t>
            </a:r>
          </a:p>
          <a:p>
            <a:pPr algn="l">
              <a:lnSpc>
                <a:spcPct val="135000"/>
              </a:lnSpc>
            </a:pPr>
            <a:r>
              <a:rPr sz="1700" b="0">
                <a:solidFill>
                  <a:srgbClr val="E6EDF3"/>
                </a:solidFill>
                <a:latin typeface="Arial"/>
              </a:rPr>
              <a:t>URL access</a:t>
            </a:r>
          </a:p>
        </p:txBody>
      </p:sp>
      <p:sp>
        <p:nvSpPr>
          <p:cNvPr id="9" name="Rectangle 8"/>
          <p:cNvSpPr/>
          <p:nvPr/>
        </p:nvSpPr>
        <p:spPr>
          <a:xfrm>
            <a:off x="6210300" y="1320800"/>
            <a:ext cx="5384800" cy="2159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0300" y="1320800"/>
            <a:ext cx="5384800" cy="5080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9700" y="1600200"/>
            <a:ext cx="4826000" cy="381000"/>
          </a:xfrm>
          <a:prstGeom prst="rect">
            <a:avLst/>
          </a:prstGeom>
          <a:noFill/>
        </p:spPr>
        <p:txBody>
          <a:bodyPr wrap="square" lIns="0" rIns="0" tIns="0" bIns="0" anchor="t">
            <a:spAutoFit/>
          </a:bodyPr>
          <a:lstStyle/>
          <a:p>
            <a:pPr algn="l">
              <a:lnSpc>
                <a:spcPct val="115000"/>
              </a:lnSpc>
            </a:pPr>
            <a:r>
              <a:rPr sz="2000" b="1">
                <a:solidFill>
                  <a:srgbClr val="58A6FF"/>
                </a:solidFill>
                <a:latin typeface="Arial"/>
              </a:rPr>
              <a:t>Never asks</a:t>
            </a:r>
          </a:p>
        </p:txBody>
      </p:sp>
      <p:sp>
        <p:nvSpPr>
          <p:cNvPr id="12" name="TextBox 11"/>
          <p:cNvSpPr txBox="1"/>
          <p:nvPr/>
        </p:nvSpPr>
        <p:spPr>
          <a:xfrm>
            <a:off x="6489700" y="2133600"/>
            <a:ext cx="4826000" cy="10668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read  ·  grep  ·  glob</a:t>
            </a:r>
          </a:p>
          <a:p>
            <a:pPr algn="l">
              <a:lnSpc>
                <a:spcPct val="135000"/>
              </a:lnSpc>
            </a:pPr>
            <a:r>
              <a:rPr sz="1700" b="0">
                <a:solidFill>
                  <a:srgbClr val="E6EDF3"/>
                </a:solidFill>
                <a:latin typeface="Arial"/>
              </a:rPr>
              <a:t>read-only shell commands</a:t>
            </a:r>
          </a:p>
          <a:p>
            <a:pPr algn="l">
              <a:lnSpc>
                <a:spcPct val="135000"/>
              </a:lnSpc>
            </a:pPr>
            <a:r>
              <a:rPr sz="1700" b="0">
                <a:solidFill>
                  <a:srgbClr val="E6EDF3"/>
                </a:solidFill>
                <a:latin typeface="Arial"/>
              </a:rPr>
              <a:t>everything it puts in context</a:t>
            </a:r>
          </a:p>
        </p:txBody>
      </p:sp>
      <p:sp>
        <p:nvSpPr>
          <p:cNvPr id="13" name="TextBox 12"/>
          <p:cNvSpPr txBox="1"/>
          <p:nvPr/>
        </p:nvSpPr>
        <p:spPr>
          <a:xfrm>
            <a:off x="596900" y="3759200"/>
            <a:ext cx="10998200" cy="736600"/>
          </a:xfrm>
          <a:prstGeom prst="rect">
            <a:avLst/>
          </a:prstGeom>
          <a:noFill/>
        </p:spPr>
        <p:txBody>
          <a:bodyPr wrap="square" lIns="0" rIns="0" tIns="0" bIns="0" anchor="t">
            <a:spAutoFit/>
          </a:bodyPr>
          <a:lstStyle/>
          <a:p>
            <a:pPr algn="l">
              <a:lnSpc>
                <a:spcPct val="140000"/>
              </a:lnSpc>
            </a:pPr>
            <a:r>
              <a:rPr sz="2000" b="1">
                <a:solidFill>
                  <a:srgbClr val="E6EDF3"/>
                </a:solidFill>
                <a:latin typeface="Arial"/>
              </a:rPr>
              <a:t>In a regulated codebase, reading is the risk.</a:t>
            </a:r>
          </a:p>
          <a:p>
            <a:pPr algn="l">
              <a:lnSpc>
                <a:spcPct val="140000"/>
              </a:lnSpc>
            </a:pPr>
            <a:r>
              <a:rPr sz="2000" b="1">
                <a:solidFill>
                  <a:srgbClr val="E6EDF3"/>
                </a:solidFill>
                <a:latin typeface="Arial"/>
              </a:rPr>
              <a:t>Exfiltration does not need write access.</a:t>
            </a:r>
          </a:p>
        </p:txBody>
      </p:sp>
      <p:sp>
        <p:nvSpPr>
          <p:cNvPr id="14" name="Rectangle 13"/>
          <p:cNvSpPr/>
          <p:nvPr/>
        </p:nvSpPr>
        <p:spPr>
          <a:xfrm>
            <a:off x="596900" y="4724400"/>
            <a:ext cx="10998200" cy="1219200"/>
          </a:xfrm>
          <a:prstGeom prst="rect">
            <a:avLst/>
          </a:prstGeom>
          <a:solidFill>
            <a:srgbClr val="1C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6900" y="4724400"/>
            <a:ext cx="50800" cy="12192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1700" y="4876800"/>
            <a:ext cx="10388600" cy="279400"/>
          </a:xfrm>
          <a:prstGeom prst="rect">
            <a:avLst/>
          </a:prstGeom>
          <a:noFill/>
        </p:spPr>
        <p:txBody>
          <a:bodyPr wrap="square" lIns="0" rIns="0" tIns="0" bIns="0" anchor="t">
            <a:spAutoFit/>
          </a:bodyPr>
          <a:lstStyle/>
          <a:p>
            <a:pPr algn="l">
              <a:lnSpc>
                <a:spcPct val="115000"/>
              </a:lnSpc>
            </a:pPr>
            <a:r>
              <a:rPr sz="1600" b="1">
                <a:solidFill>
                  <a:srgbClr val="F85149"/>
                </a:solidFill>
                <a:latin typeface="Arial"/>
              </a:rPr>
              <a:t>And the default read surface is not the repository</a:t>
            </a:r>
          </a:p>
        </p:txBody>
      </p:sp>
      <p:sp>
        <p:nvSpPr>
          <p:cNvPr id="17" name="TextBox 16"/>
          <p:cNvSpPr txBox="1"/>
          <p:nvPr/>
        </p:nvSpPr>
        <p:spPr>
          <a:xfrm>
            <a:off x="901700" y="5181600"/>
            <a:ext cx="10388600" cy="609600"/>
          </a:xfrm>
          <a:prstGeom prst="rect">
            <a:avLst/>
          </a:prstGeom>
          <a:noFill/>
        </p:spPr>
        <p:txBody>
          <a:bodyPr wrap="square" lIns="0" rIns="0" tIns="0" bIns="0" anchor="t">
            <a:spAutoFit/>
          </a:bodyPr>
          <a:lstStyle/>
          <a:p>
            <a:pPr algn="l">
              <a:lnSpc>
                <a:spcPct val="130000"/>
              </a:lnSpc>
            </a:pPr>
            <a:r>
              <a:rPr sz="1700" b="0">
                <a:solidFill>
                  <a:srgbClr val="E6EDF3"/>
                </a:solidFill>
                <a:latin typeface="Arial"/>
              </a:rPr>
              <a:t>A sandboxed process can read your whole home directory, plus system and tool locations. cd into a subdirectory scopes your writes, not your reads.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Where the sandbox stops</a:t>
            </a:r>
          </a:p>
        </p:txBody>
      </p:sp>
      <p:sp>
        <p:nvSpPr>
          <p:cNvPr id="5" name="Rectangle 4"/>
          <p:cNvSpPr/>
          <p:nvPr/>
        </p:nvSpPr>
        <p:spPr>
          <a:xfrm>
            <a:off x="596900" y="1320800"/>
            <a:ext cx="3513666" cy="25654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320800"/>
            <a:ext cx="3513666" cy="50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6300" y="1600200"/>
            <a:ext cx="2954866" cy="381000"/>
          </a:xfrm>
          <a:prstGeom prst="rect">
            <a:avLst/>
          </a:prstGeom>
          <a:noFill/>
        </p:spPr>
        <p:txBody>
          <a:bodyPr wrap="square" lIns="0" rIns="0" tIns="0" bIns="0" anchor="t">
            <a:spAutoFit/>
          </a:bodyPr>
          <a:lstStyle/>
          <a:p>
            <a:pPr algn="l">
              <a:lnSpc>
                <a:spcPct val="115000"/>
              </a:lnSpc>
            </a:pPr>
            <a:r>
              <a:rPr sz="2000" b="1">
                <a:solidFill>
                  <a:srgbClr val="F0883E"/>
                </a:solidFill>
                <a:latin typeface="Arial"/>
              </a:rPr>
              <a:t>Built-in file tools</a:t>
            </a:r>
          </a:p>
        </p:txBody>
      </p:sp>
      <p:sp>
        <p:nvSpPr>
          <p:cNvPr id="8" name="TextBox 7"/>
          <p:cNvSpPr txBox="1"/>
          <p:nvPr/>
        </p:nvSpPr>
        <p:spPr>
          <a:xfrm>
            <a:off x="876300" y="2133600"/>
            <a:ext cx="2954866" cy="14732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Run in-process, not as</a:t>
            </a:r>
          </a:p>
          <a:p>
            <a:pPr algn="l">
              <a:lnSpc>
                <a:spcPct val="135000"/>
              </a:lnSpc>
            </a:pPr>
            <a:r>
              <a:rPr sz="1700" b="0">
                <a:solidFill>
                  <a:srgbClr val="E6EDF3"/>
                </a:solidFill>
                <a:latin typeface="Arial"/>
              </a:rPr>
              <a:t>sandboxed children. Same</a:t>
            </a:r>
          </a:p>
          <a:p>
            <a:pPr algn="l">
              <a:lnSpc>
                <a:spcPct val="135000"/>
              </a:lnSpc>
            </a:pPr>
            <a:r>
              <a:rPr sz="1700" b="0">
                <a:solidFill>
                  <a:srgbClr val="E6EDF3"/>
                </a:solidFill>
                <a:latin typeface="Arial"/>
              </a:rPr>
              <a:t>policy, checked in software.</a:t>
            </a:r>
          </a:p>
          <a:p>
            <a:pPr algn="l">
              <a:lnSpc>
                <a:spcPct val="135000"/>
              </a:lnSpc>
            </a:pPr>
            <a:r>
              <a:rPr sz="1700" b="0">
                <a:solidFill>
                  <a:srgbClr val="E6EDF3"/>
                </a:solidFill>
                <a:latin typeface="Arial"/>
              </a:rPr>
              <a:t>No OS backstop.</a:t>
            </a:r>
          </a:p>
        </p:txBody>
      </p:sp>
      <p:sp>
        <p:nvSpPr>
          <p:cNvPr id="9" name="Rectangle 8"/>
          <p:cNvSpPr/>
          <p:nvPr/>
        </p:nvSpPr>
        <p:spPr>
          <a:xfrm>
            <a:off x="4339166" y="1320800"/>
            <a:ext cx="3513666" cy="25654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9166" y="1320800"/>
            <a:ext cx="3513666" cy="508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8566" y="1600200"/>
            <a:ext cx="2954866" cy="381000"/>
          </a:xfrm>
          <a:prstGeom prst="rect">
            <a:avLst/>
          </a:prstGeom>
          <a:noFill/>
        </p:spPr>
        <p:txBody>
          <a:bodyPr wrap="square" lIns="0" rIns="0" tIns="0" bIns="0" anchor="t">
            <a:spAutoFit/>
          </a:bodyPr>
          <a:lstStyle/>
          <a:p>
            <a:pPr algn="l">
              <a:lnSpc>
                <a:spcPct val="115000"/>
              </a:lnSpc>
            </a:pPr>
            <a:r>
              <a:rPr sz="2000" b="1">
                <a:solidFill>
                  <a:srgbClr val="F85149"/>
                </a:solidFill>
                <a:latin typeface="Arial"/>
              </a:rPr>
              <a:t>Remote MCP servers</a:t>
            </a:r>
          </a:p>
        </p:txBody>
      </p:sp>
      <p:sp>
        <p:nvSpPr>
          <p:cNvPr id="12" name="TextBox 11"/>
          <p:cNvSpPr txBox="1"/>
          <p:nvPr/>
        </p:nvSpPr>
        <p:spPr>
          <a:xfrm>
            <a:off x="4618566" y="2133600"/>
            <a:ext cx="2954866" cy="14732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Run off your machine</a:t>
            </a:r>
          </a:p>
          <a:p>
            <a:pPr algn="l">
              <a:lnSpc>
                <a:spcPct val="135000"/>
              </a:lnSpc>
            </a:pPr>
            <a:r>
              <a:rPr sz="1700" b="0">
                <a:solidFill>
                  <a:srgbClr val="E6EDF3"/>
                </a:solidFill>
                <a:latin typeface="Arial"/>
              </a:rPr>
              <a:t>entirely. The local</a:t>
            </a:r>
          </a:p>
          <a:p>
            <a:pPr algn="l">
              <a:lnSpc>
                <a:spcPct val="135000"/>
              </a:lnSpc>
            </a:pPr>
            <a:r>
              <a:rPr sz="1700" b="0">
                <a:solidFill>
                  <a:srgbClr val="E6EDF3"/>
                </a:solidFill>
                <a:latin typeface="Arial"/>
              </a:rPr>
              <a:t>filesystem policy does not</a:t>
            </a:r>
          </a:p>
          <a:p>
            <a:pPr algn="l">
              <a:lnSpc>
                <a:spcPct val="135000"/>
              </a:lnSpc>
            </a:pPr>
            <a:r>
              <a:rPr sz="1700" b="0">
                <a:solidFill>
                  <a:srgbClr val="E6EDF3"/>
                </a:solidFill>
                <a:latin typeface="Arial"/>
              </a:rPr>
              <a:t>constrain them at all.</a:t>
            </a:r>
          </a:p>
        </p:txBody>
      </p:sp>
      <p:sp>
        <p:nvSpPr>
          <p:cNvPr id="13" name="Rectangle 12"/>
          <p:cNvSpPr/>
          <p:nvPr/>
        </p:nvSpPr>
        <p:spPr>
          <a:xfrm>
            <a:off x="8081433" y="1320800"/>
            <a:ext cx="3513666" cy="25654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1433" y="1320800"/>
            <a:ext cx="3513666" cy="5080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0833" y="1600200"/>
            <a:ext cx="2954866" cy="381000"/>
          </a:xfrm>
          <a:prstGeom prst="rect">
            <a:avLst/>
          </a:prstGeom>
          <a:noFill/>
        </p:spPr>
        <p:txBody>
          <a:bodyPr wrap="square" lIns="0" rIns="0" tIns="0" bIns="0" anchor="t">
            <a:spAutoFit/>
          </a:bodyPr>
          <a:lstStyle/>
          <a:p>
            <a:pPr algn="l">
              <a:lnSpc>
                <a:spcPct val="115000"/>
              </a:lnSpc>
            </a:pPr>
            <a:r>
              <a:rPr sz="2000" b="1">
                <a:solidFill>
                  <a:srgbClr val="58A6FF"/>
                </a:solidFill>
                <a:latin typeface="Arial"/>
              </a:rPr>
              <a:t>Public preview</a:t>
            </a:r>
          </a:p>
        </p:txBody>
      </p:sp>
      <p:sp>
        <p:nvSpPr>
          <p:cNvPr id="16" name="TextBox 15"/>
          <p:cNvSpPr txBox="1"/>
          <p:nvPr/>
        </p:nvSpPr>
        <p:spPr>
          <a:xfrm>
            <a:off x="8360833" y="2133600"/>
            <a:ext cx="2954866" cy="14732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Opt-in, needs --experimental,</a:t>
            </a:r>
          </a:p>
          <a:p>
            <a:pPr algn="l">
              <a:lnSpc>
                <a:spcPct val="135000"/>
              </a:lnSpc>
            </a:pPr>
            <a:r>
              <a:rPr sz="1700" b="0">
                <a:solidFill>
                  <a:srgbClr val="E6EDF3"/>
                </a:solidFill>
                <a:latin typeface="Arial"/>
              </a:rPr>
              <a:t>and subject to change.</a:t>
            </a:r>
          </a:p>
          <a:p>
            <a:pPr algn="l">
              <a:lnSpc>
                <a:spcPct val="135000"/>
              </a:lnSpc>
            </a:pPr>
            <a:r>
              <a:rPr sz="1700" b="0">
                <a:solidFill>
                  <a:srgbClr val="E6EDF3"/>
                </a:solidFill>
                <a:latin typeface="Arial"/>
              </a:rPr>
              <a:t>Confirm support on the build</a:t>
            </a:r>
          </a:p>
          <a:p>
            <a:pPr algn="l">
              <a:lnSpc>
                <a:spcPct val="135000"/>
              </a:lnSpc>
            </a:pPr>
            <a:r>
              <a:rPr sz="1700" b="0">
                <a:solidFill>
                  <a:srgbClr val="E6EDF3"/>
                </a:solidFill>
                <a:latin typeface="Arial"/>
              </a:rPr>
              <a:t>you actually present with.</a:t>
            </a:r>
          </a:p>
        </p:txBody>
      </p:sp>
      <p:sp>
        <p:nvSpPr>
          <p:cNvPr id="17" name="Rectangle 16"/>
          <p:cNvSpPr/>
          <p:nvPr/>
        </p:nvSpPr>
        <p:spPr>
          <a:xfrm>
            <a:off x="596900" y="4267200"/>
            <a:ext cx="10998200" cy="1066800"/>
          </a:xfrm>
          <a:prstGeom prst="rect">
            <a:avLst/>
          </a:prstGeom>
          <a:solidFill>
            <a:srgbClr val="0D2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6900" y="4267200"/>
            <a:ext cx="50800" cy="1066800"/>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1700" y="4419600"/>
            <a:ext cx="10388600" cy="279400"/>
          </a:xfrm>
          <a:prstGeom prst="rect">
            <a:avLst/>
          </a:prstGeom>
          <a:noFill/>
        </p:spPr>
        <p:txBody>
          <a:bodyPr wrap="square" lIns="0" rIns="0" tIns="0" bIns="0" anchor="t">
            <a:spAutoFit/>
          </a:bodyPr>
          <a:lstStyle/>
          <a:p>
            <a:pPr algn="l">
              <a:lnSpc>
                <a:spcPct val="115000"/>
              </a:lnSpc>
            </a:pPr>
            <a:r>
              <a:rPr sz="1600" b="1">
                <a:solidFill>
                  <a:srgbClr val="3FB950"/>
                </a:solidFill>
                <a:latin typeface="Arial"/>
              </a:rPr>
              <a:t>Credit where it is due</a:t>
            </a:r>
          </a:p>
        </p:txBody>
      </p:sp>
      <p:sp>
        <p:nvSpPr>
          <p:cNvPr id="20" name="TextBox 19"/>
          <p:cNvSpPr txBox="1"/>
          <p:nvPr/>
        </p:nvSpPr>
        <p:spPr>
          <a:xfrm>
            <a:off x="901700" y="4724400"/>
            <a:ext cx="10388600" cy="457200"/>
          </a:xfrm>
          <a:prstGeom prst="rect">
            <a:avLst/>
          </a:prstGeom>
          <a:noFill/>
        </p:spPr>
        <p:txBody>
          <a:bodyPr wrap="square" lIns="0" rIns="0" tIns="0" bIns="0" anchor="t">
            <a:spAutoFit/>
          </a:bodyPr>
          <a:lstStyle/>
          <a:p>
            <a:pPr algn="l">
              <a:lnSpc>
                <a:spcPct val="130000"/>
              </a:lnSpc>
            </a:pPr>
            <a:r>
              <a:rPr sz="1700" b="0">
                <a:solidFill>
                  <a:srgbClr val="E6EDF3"/>
                </a:solidFill>
                <a:latin typeface="Arial"/>
              </a:rPr>
              <a:t>Escaping the sandbox always requires interactive human confirmation. A hook cannot pre-approve it.</a:t>
            </a:r>
          </a:p>
        </p:txBody>
      </p:sp>
      <p:sp>
        <p:nvSpPr>
          <p:cNvPr id="21" name="TextBox 20"/>
          <p:cNvSpPr txBox="1"/>
          <p:nvPr/>
        </p:nvSpPr>
        <p:spPr>
          <a:xfrm>
            <a:off x="596900" y="56134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Good control, documented edges. That is a stronger position than either slogan.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Deny rules match patterns, not intent</a:t>
            </a:r>
          </a:p>
        </p:txBody>
      </p:sp>
      <p:sp>
        <p:nvSpPr>
          <p:cNvPr id="5" name="TextBox 4"/>
          <p:cNvSpPr txBox="1"/>
          <p:nvPr/>
        </p:nvSpPr>
        <p:spPr>
          <a:xfrm>
            <a:off x="596900" y="1320800"/>
            <a:ext cx="10998200" cy="381000"/>
          </a:xfrm>
          <a:prstGeom prst="rect">
            <a:avLst/>
          </a:prstGeom>
          <a:noFill/>
        </p:spPr>
        <p:txBody>
          <a:bodyPr wrap="square" lIns="0" rIns="0" tIns="0" bIns="0" anchor="t">
            <a:spAutoFit/>
          </a:bodyPr>
          <a:lstStyle/>
          <a:p>
            <a:pPr algn="l">
              <a:lnSpc>
                <a:spcPct val="115000"/>
              </a:lnSpc>
            </a:pPr>
            <a:r>
              <a:rPr sz="1700" b="0">
                <a:solidFill>
                  <a:srgbClr val="F0883E"/>
                </a:solidFill>
                <a:latin typeface="Courier New"/>
              </a:rPr>
              <a:t>--deny-tool='shell(terraform apply)'</a:t>
            </a:r>
            <a:r>
              <a:rPr sz="1700" b="0">
                <a:solidFill>
                  <a:srgbClr val="8B949E"/>
                </a:solidFill>
                <a:latin typeface="Arial"/>
              </a:rPr>
              <a:t>      does it also stop…</a:t>
            </a:r>
          </a:p>
        </p:txBody>
      </p:sp>
      <p:sp>
        <p:nvSpPr>
          <p:cNvPr id="6" name="Rectangle 5"/>
          <p:cNvSpPr/>
          <p:nvPr/>
        </p:nvSpPr>
        <p:spPr>
          <a:xfrm>
            <a:off x="596900" y="1879600"/>
            <a:ext cx="10998200" cy="5588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5500" y="1879600"/>
            <a:ext cx="508000" cy="5588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a:t>
            </a:r>
          </a:p>
        </p:txBody>
      </p:sp>
      <p:sp>
        <p:nvSpPr>
          <p:cNvPr id="8" name="TextBox 7"/>
          <p:cNvSpPr txBox="1"/>
          <p:nvPr/>
        </p:nvSpPr>
        <p:spPr>
          <a:xfrm>
            <a:off x="1409700" y="1879600"/>
            <a:ext cx="6604000" cy="5588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bash -c 'terraform apply'</a:t>
            </a:r>
          </a:p>
        </p:txBody>
      </p:sp>
      <p:sp>
        <p:nvSpPr>
          <p:cNvPr id="9" name="TextBox 8"/>
          <p:cNvSpPr txBox="1"/>
          <p:nvPr/>
        </p:nvSpPr>
        <p:spPr>
          <a:xfrm>
            <a:off x="8216900" y="1879600"/>
            <a:ext cx="3175000" cy="5588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unverified</a:t>
            </a:r>
          </a:p>
        </p:txBody>
      </p:sp>
      <p:sp>
        <p:nvSpPr>
          <p:cNvPr id="10" name="Rectangle 9"/>
          <p:cNvSpPr/>
          <p:nvPr/>
        </p:nvSpPr>
        <p:spPr>
          <a:xfrm>
            <a:off x="596900" y="2514600"/>
            <a:ext cx="10998200" cy="5588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500" y="2514600"/>
            <a:ext cx="508000" cy="5588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a:t>
            </a:r>
          </a:p>
        </p:txBody>
      </p:sp>
      <p:sp>
        <p:nvSpPr>
          <p:cNvPr id="12" name="TextBox 11"/>
          <p:cNvSpPr txBox="1"/>
          <p:nvPr/>
        </p:nvSpPr>
        <p:spPr>
          <a:xfrm>
            <a:off x="1409700" y="2514600"/>
            <a:ext cx="6604000" cy="5588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a script the agent wrote two steps earlier</a:t>
            </a:r>
          </a:p>
        </p:txBody>
      </p:sp>
      <p:sp>
        <p:nvSpPr>
          <p:cNvPr id="13" name="TextBox 12"/>
          <p:cNvSpPr txBox="1"/>
          <p:nvPr/>
        </p:nvSpPr>
        <p:spPr>
          <a:xfrm>
            <a:off x="8216900" y="2514600"/>
            <a:ext cx="3175000" cy="5588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unverified</a:t>
            </a:r>
          </a:p>
        </p:txBody>
      </p:sp>
      <p:sp>
        <p:nvSpPr>
          <p:cNvPr id="14" name="Rectangle 13"/>
          <p:cNvSpPr/>
          <p:nvPr/>
        </p:nvSpPr>
        <p:spPr>
          <a:xfrm>
            <a:off x="596900" y="3149600"/>
            <a:ext cx="10998200" cy="5588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500" y="3149600"/>
            <a:ext cx="508000" cy="5588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a:t>
            </a:r>
          </a:p>
        </p:txBody>
      </p:sp>
      <p:sp>
        <p:nvSpPr>
          <p:cNvPr id="16" name="TextBox 15"/>
          <p:cNvSpPr txBox="1"/>
          <p:nvPr/>
        </p:nvSpPr>
        <p:spPr>
          <a:xfrm>
            <a:off x="1409700" y="3149600"/>
            <a:ext cx="6604000" cy="5588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terragrunt apply</a:t>
            </a:r>
          </a:p>
        </p:txBody>
      </p:sp>
      <p:sp>
        <p:nvSpPr>
          <p:cNvPr id="17" name="TextBox 16"/>
          <p:cNvSpPr txBox="1"/>
          <p:nvPr/>
        </p:nvSpPr>
        <p:spPr>
          <a:xfrm>
            <a:off x="8216900" y="3149600"/>
            <a:ext cx="3175000" cy="5588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unverified</a:t>
            </a:r>
          </a:p>
        </p:txBody>
      </p:sp>
      <p:sp>
        <p:nvSpPr>
          <p:cNvPr id="18" name="Rectangle 17"/>
          <p:cNvSpPr/>
          <p:nvPr/>
        </p:nvSpPr>
        <p:spPr>
          <a:xfrm>
            <a:off x="596900" y="3784600"/>
            <a:ext cx="10998200" cy="5588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500" y="3784600"/>
            <a:ext cx="508000" cy="5588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a:t>
            </a:r>
          </a:p>
        </p:txBody>
      </p:sp>
      <p:sp>
        <p:nvSpPr>
          <p:cNvPr id="20" name="TextBox 19"/>
          <p:cNvSpPr txBox="1"/>
          <p:nvPr/>
        </p:nvSpPr>
        <p:spPr>
          <a:xfrm>
            <a:off x="1409700" y="3784600"/>
            <a:ext cx="6604000" cy="5588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an MCP server calling the cloud API directly</a:t>
            </a:r>
          </a:p>
        </p:txBody>
      </p:sp>
      <p:sp>
        <p:nvSpPr>
          <p:cNvPr id="21" name="TextBox 20"/>
          <p:cNvSpPr txBox="1"/>
          <p:nvPr/>
        </p:nvSpPr>
        <p:spPr>
          <a:xfrm>
            <a:off x="8216900" y="3784600"/>
            <a:ext cx="3175000" cy="5588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unverified</a:t>
            </a:r>
          </a:p>
        </p:txBody>
      </p:sp>
      <p:sp>
        <p:nvSpPr>
          <p:cNvPr id="22" name="TextBox 21"/>
          <p:cNvSpPr txBox="1"/>
          <p:nvPr/>
        </p:nvSpPr>
        <p:spPr>
          <a:xfrm>
            <a:off x="596900" y="4724400"/>
            <a:ext cx="10998200" cy="965200"/>
          </a:xfrm>
          <a:prstGeom prst="rect">
            <a:avLst/>
          </a:prstGeom>
          <a:noFill/>
        </p:spPr>
        <p:txBody>
          <a:bodyPr wrap="square" lIns="0" rIns="0" tIns="0" bIns="0" anchor="t">
            <a:spAutoFit/>
          </a:bodyPr>
          <a:lstStyle/>
          <a:p>
            <a:pPr algn="l">
              <a:lnSpc>
                <a:spcPct val="130000"/>
              </a:lnSpc>
            </a:pPr>
            <a:r>
              <a:rPr sz="3000" b="1">
                <a:solidFill>
                  <a:srgbClr val="E6EDF3"/>
                </a:solidFill>
                <a:latin typeface="Arial"/>
              </a:rPr>
              <a:t>Deny rules are the speed bump on the honest path.</a:t>
            </a:r>
          </a:p>
          <a:p>
            <a:pPr algn="l">
              <a:lnSpc>
                <a:spcPct val="130000"/>
              </a:lnSpc>
            </a:pPr>
            <a:r>
              <a:rPr sz="3000" b="1">
                <a:solidFill>
                  <a:srgbClr val="E6EDF3"/>
                </a:solidFill>
                <a:latin typeface="Arial"/>
              </a:rPr>
              <a:t>IAM is the wall.</a:t>
            </a:r>
          </a:p>
        </p:txBody>
      </p:sp>
      <p:sp>
        <p:nvSpPr>
          <p:cNvPr id="23" name="TextBox 22"/>
          <p:cNvSpPr txBox="1"/>
          <p:nvPr/>
        </p:nvSpPr>
        <p:spPr>
          <a:xfrm>
            <a:off x="596900" y="59436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If the identity cannot call storage.buckets.update, the pattern does not have to be perfect.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96900" y="1905000"/>
            <a:ext cx="10998200" cy="1778000"/>
          </a:xfrm>
          <a:prstGeom prst="rect">
            <a:avLst/>
          </a:prstGeom>
          <a:noFill/>
        </p:spPr>
        <p:txBody>
          <a:bodyPr wrap="square" lIns="0" rIns="0" tIns="0" bIns="0" anchor="t">
            <a:spAutoFit/>
          </a:bodyPr>
          <a:lstStyle/>
          <a:p>
            <a:pPr algn="l">
              <a:lnSpc>
                <a:spcPct val="130000"/>
              </a:lnSpc>
            </a:pPr>
            <a:r>
              <a:rPr sz="3800" b="1">
                <a:solidFill>
                  <a:srgbClr val="E6EDF3"/>
                </a:solidFill>
                <a:latin typeface="Arial"/>
              </a:rPr>
              <a:t>The agent borrows your access.</a:t>
            </a:r>
          </a:p>
          <a:p>
            <a:pPr algn="l">
              <a:lnSpc>
                <a:spcPct val="130000"/>
              </a:lnSpc>
            </a:pPr>
            <a:r>
              <a:rPr sz="3800" b="1">
                <a:solidFill>
                  <a:srgbClr val="E6EDF3"/>
                </a:solidFill>
                <a:latin typeface="Arial"/>
              </a:rPr>
              <a:t>Scope what it borrows.</a:t>
            </a:r>
          </a:p>
        </p:txBody>
      </p:sp>
      <p:sp>
        <p:nvSpPr>
          <p:cNvPr id="3" name="Rectangle 2"/>
          <p:cNvSpPr/>
          <p:nvPr/>
        </p:nvSpPr>
        <p:spPr>
          <a:xfrm>
            <a:off x="596900" y="4038600"/>
            <a:ext cx="2032000" cy="381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6900" y="4368800"/>
            <a:ext cx="10998200" cy="381000"/>
          </a:xfrm>
          <a:prstGeom prst="rect">
            <a:avLst/>
          </a:prstGeom>
          <a:noFill/>
        </p:spPr>
        <p:txBody>
          <a:bodyPr wrap="square" lIns="0" rIns="0" tIns="0" bIns="0" anchor="ctr">
            <a:spAutoFit/>
          </a:bodyPr>
          <a:lstStyle/>
          <a:p>
            <a:pPr algn="l">
              <a:lnSpc>
                <a:spcPct val="115000"/>
              </a:lnSpc>
            </a:pPr>
            <a:r>
              <a:rPr sz="1700" b="0">
                <a:solidFill>
                  <a:srgbClr val="8B949E"/>
                </a:solidFill>
                <a:latin typeface="Arial"/>
              </a:rPr>
              <a:t>Lab, permission flags, and what is still unverified</a:t>
            </a:r>
          </a:p>
        </p:txBody>
      </p:sp>
      <p:sp>
        <p:nvSpPr>
          <p:cNvPr id="5" name="TextBox 4"/>
          <p:cNvSpPr txBox="1"/>
          <p:nvPr/>
        </p:nvSpPr>
        <p:spPr>
          <a:xfrm>
            <a:off x="596900" y="4775200"/>
            <a:ext cx="10998200" cy="431800"/>
          </a:xfrm>
          <a:prstGeom prst="rect">
            <a:avLst/>
          </a:prstGeom>
          <a:noFill/>
        </p:spPr>
        <p:txBody>
          <a:bodyPr wrap="square" lIns="0" rIns="0" tIns="0" bIns="0" anchor="ctr">
            <a:spAutoFit/>
          </a:bodyPr>
          <a:lstStyle/>
          <a:p>
            <a:pPr algn="l">
              <a:lnSpc>
                <a:spcPct val="115000"/>
              </a:lnSpc>
            </a:pPr>
            <a:r>
              <a:rPr sz="2000" b="1">
                <a:solidFill>
                  <a:srgbClr val="F0883E"/>
                </a:solidFill>
                <a:latin typeface="Courier New"/>
              </a:rPr>
              <a:t>github.com/adilshehzad786/copilot-cli-real-infra</a:t>
            </a:r>
          </a:p>
        </p:txBody>
      </p:sp>
      <p:sp>
        <p:nvSpPr>
          <p:cNvPr id="6" name="TextBox 5"/>
          <p:cNvSpPr txBox="1"/>
          <p:nvPr/>
        </p:nvSpPr>
        <p:spPr>
          <a:xfrm>
            <a:off x="596900" y="5435600"/>
            <a:ext cx="10998200" cy="3302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Adil Shehzad  ·  DevSecOps Engineer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